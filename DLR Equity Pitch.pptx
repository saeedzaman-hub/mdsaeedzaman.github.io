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afternoon. I am recommending a buy on Digital Realty, ticker DLR, the second largest data center REIT in the world. The stock is at 184 dollars. My target is 213, which is about sixteen percent of price upside plus a 2.7 percent dividend, so roughly eighteen percent total return over twelve months. What I like most is the shape of the risk. My bear case is 163 and my bull case is 263, so I am risking about twelve percent to make about forty three. That is better than three and a half to one. I will spend the next ten minutes on why I think that asymmetry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orientation for anyone who does not follow the name. Digital Realty is a landlord, not a technology company. It owns 310 data centers and leases them, mostly to hyperscalers like Microsoft and Oracle, and to several thousand enterprises. Three things to hold on to. First, three gigawatts of power is in service today, and that is the revenue base. Second, there is another nine gigawatts of future development capacity that is not in service yet, and that is the growth. Third, leverage is 4.8 times, which is normal for a REIT and leaves room to fund the build. Revenue was 6.1 billion last year and occupancy is 92.5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recommendation in one slide. Buy at 184, target 213, about eighteen percent all in. But the number I want you to notice is not the target, it is point three and the strip at the bottom. Management raised full year guidance at both quarterly reports this year, in April and again in July. Over that same stretch the stock went down. It sits below where it traded in April. So the multiple compressed from 23.7 times to 22.5 times while the estimate went up. Either the market knows something I do not, or this is a reasonable entry. The rest of the presentation is my argument that it is the second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of my thesis, and it is where I differ from the usual data center pitch. Most people pitch these names on AI demand. I think that is consensus and it is unfalsifiable. The real question is supply. Demand for compute is enormous, but you cannot serve it without land that has a grid connection, and in most markets the utility interconnection queue runs years. So the constraint is not customers, it is deployable megawatts. DLR has 1,402 megawatts under construction, up 82 percent in six months, and over seven gigawatts of further land and shell behind that. And critically they can build it. Charlotte went from announcement to 200 megawatts fully leased in under eighteen months. That is the proof this is an operating business, not land speculation.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pillar is pricing power, and I want to be precise about where it shows up. It is not mainly in new leases, it is in renewals. Look at the hyperscale line. Those are contracts signed years ago at 159 dollars per kilowatt. When they came up for renewal this quarter they renewed at 265. That is a 67 percent increase on the same space, same building, same tenant. Nothing was built. This is old rent catching up to today's market. Blended across the whole book it was plus 25.6 percent, a company record. And here is why I trust it. After posting that quarter, management raised full year renewal guidance from a range of 6.5 to 8.5 up to 9 to 11. Companies do not raise a full year guide on a fluke.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 pillar, and this is the part I think is underappreciated. DLR is becoming part asset manager. The four transactions in the table are all from this year. They bought out Blackstone's share of three Virginia data centers, raised their Teraco stake, bought an investment firm called Columbia Capital that brings nine billion of committed institutional money, and bought land near Kansas City. Why does that matter? It lets them monetise the same land twice. They keep a slice and earn rent, and they earn management fees on the rest, which is funded by somebody else's capital. Fee income went from under one percent of revenue to 2.4 percent in two years. Still small, but it tripled and it uses almost no balance 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makes the thesis underwritable. Data center leases are signed long before the tenant moves in, so there is a backlog of rent that is contracted but not yet flowing through the income statement. That backlog is 1.4 billion at DLR's share, about twenty percent of annualised rental and recovery revenue. And the company tells you when it switches on. 635 million in the rest of this year, 480 million next year, 312 million after that. So when I build my revenue forecast I am not guessing at demand, I am scheduling rent that is already under contract. That produces the earnings line on the right. Eight twenty this year, eight eighty six next year, and just over eleven by 2029.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ways of valuing it, and they broadly agree. Net asset value says 218 in the base case and I weight that heaviest at forty percent, because this is fundamentally a property balance sheet. Discounted cash flow says 224. The two multiple approaches are lower, 204 on Core FFO and 184 on AFFO, and that is deliberate because multiples price today's earnings and miss the pipeline. Blend all four and I get 213, the green line. The grey line is where the stock trades today. One thing I will be upfront about. The consensus range at the bottom is 220 to 240 and I sit just below it. I use an eight percent discount rate and the street uses six to seven. Each fifty basis points is worth about five dollars, so at their rate I am inside their range. I would rather use the conservative input and be able to defend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remember one thing from today, make it the line under the title. DLR builds a data center at a cost that earns about 11.5 percent once it is leased. A finished, fully leased data center trades in the private market at about a 5.5 percent cap rate. That six hundred basis point spread is where net asset value is created. It is not AI demand, it is the gap between what it costs to build and what a finished building is worth. Now the table, top to bottom. The buildings they already own and lease produce 4.28 billion of cash rent after property costs, and at a 5.5 cap that is 207 dollars a share. Next line is the pipeline. They will spend 13.6 billion in total on the 1,402 megawatts under construction, that produces about 1.3 billion of rent, and capitalised it is worth roughly 23 billion. Subtract the full 13.6 billion of cost, including what is already spent, and you are left with 32 dollars a share of value they create by building. The land bank is valued at only 500 thousand a megawatt, which is about five percent of the value they realise on a megawatt they actually build, so that line is deliberately conservative. Then the fee platform, then cash and the buildings still at cost on the balance sheet. Take off 71 dollars of debt and preferred and you get 218 against 184 today. And note the footnote. Move the cap rate to six percent and you get 195. Move it to five and you get 244. That one input is the most sensitive assumption in the whole model and I would rather tell you than have you find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spend real time here, because a pitch without honest risks is not a pitch. Five of them. On issuance, yes they sell stock, about 8.5 percent more shares by 2030, but earnings per share still go from 8.20 to 11.85, so it is accretive. On valuation versus Equinix, I concede this one. DLR is more expensive and carries more debt. It grows faster and pays a better dividend, but if you cannot get comfortable, size it smaller. On speculative building, look at where the unleased capacity actually sits. More than half of it is Atlanta, which opens in 2029 and where nobody signs three years early, and EMEA, which is only 12 percent leased and is the part I would genuinely watch. Strip Atlanta out and the Americas are 75 percent pre-leased. The one I worry about most is the last. Community opposition and state level scrutiny of power use and tax breaks are real and getting worse. That is the risk I think is most underpriced.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four things I will be watching. October results, where another guidance raise would extend the pattern. Renewal spreads staying above twenty percent. First tenants signed at Kansas City or Atlanta, which converts land into contracted rent. And February, when they guide 2027. One last framing point. My twelve month target is 213, about eighteen percent all in. That is fine but it is not the strongest version of this argument. The stronger version is duration. If you hold to 2029 and the multiple never changes at all, earnings growth plus the dividend gets you about thirteen percent a year. This is a compounder, not a re-rating trade, and that is how I would own it.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03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5A2E6"/>
                </a:solidFill>
                <a:latin typeface="IBM Plex Sans" pitchFamily="34" charset="0"/>
                <a:ea typeface="IBM Plex Sans" pitchFamily="34" charset="-122"/>
                <a:cs typeface="IBM Plex Sans" pitchFamily="34" charset="-120"/>
              </a:rPr>
              <a:t>EQUITY RESEARCH · INITIATION</a:t>
            </a:r>
            <a:endParaRPr lang="en-US" sz="1200" dirty="0"/>
          </a:p>
        </p:txBody>
      </p:sp>
      <p:sp>
        <p:nvSpPr>
          <p:cNvPr id="3" name="Text 1"/>
          <p:cNvSpPr/>
          <p:nvPr/>
        </p:nvSpPr>
        <p:spPr>
          <a:xfrm>
            <a:off x="812800" y="2334320"/>
            <a:ext cx="10883392" cy="762000"/>
          </a:xfrm>
          <a:prstGeom prst="rect">
            <a:avLst/>
          </a:prstGeom>
          <a:noFill/>
          <a:ln/>
        </p:spPr>
        <p:txBody>
          <a:bodyPr wrap="square" lIns="0" tIns="0" rIns="0" bIns="0" rtlCol="0" anchor="t">
            <a:normAutofit/>
          </a:bodyPr>
          <a:lstStyle/>
          <a:p>
            <a:pPr algn="l" indent="0" marL="0">
              <a:lnSpc>
                <a:spcPts val="5800"/>
              </a:lnSpc>
              <a:buNone/>
            </a:pPr>
            <a:r>
              <a:rPr lang="en-US" sz="5800" b="1" dirty="0">
                <a:solidFill>
                  <a:srgbClr val="FFFFFF"/>
                </a:solidFill>
                <a:latin typeface="Rubik" pitchFamily="34" charset="0"/>
                <a:ea typeface="Rubik" pitchFamily="34" charset="-122"/>
                <a:cs typeface="Rubik" pitchFamily="34" charset="-120"/>
              </a:rPr>
              <a:t>Digital Realty Trust</a:t>
            </a:r>
            <a:endParaRPr lang="en-US" sz="5800" dirty="0"/>
          </a:p>
        </p:txBody>
      </p:sp>
      <p:sp>
        <p:nvSpPr>
          <p:cNvPr id="4" name="Text 2"/>
          <p:cNvSpPr/>
          <p:nvPr/>
        </p:nvSpPr>
        <p:spPr>
          <a:xfrm>
            <a:off x="812800" y="3185220"/>
            <a:ext cx="10883392"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A5A2E6"/>
                </a:solidFill>
                <a:latin typeface="IBM Plex Sans" pitchFamily="34" charset="0"/>
                <a:ea typeface="IBM Plex Sans" pitchFamily="34" charset="-122"/>
                <a:cs typeface="IBM Plex Sans" pitchFamily="34" charset="-120"/>
              </a:rPr>
              <a:t>NYSE: DLR · Data Center REIT · $69.6bn market capitalisation</a:t>
            </a:r>
            <a:endParaRPr lang="en-US" sz="1700" dirty="0"/>
          </a:p>
        </p:txBody>
      </p:sp>
      <p:sp>
        <p:nvSpPr>
          <p:cNvPr id="5" name="Shape 3"/>
          <p:cNvSpPr/>
          <p:nvPr/>
        </p:nvSpPr>
        <p:spPr>
          <a:xfrm>
            <a:off x="812800" y="4798764"/>
            <a:ext cx="10566400" cy="0"/>
          </a:xfrm>
          <a:prstGeom prst="line">
            <a:avLst/>
          </a:prstGeom>
          <a:noFill/>
          <a:ln w="6350">
            <a:solidFill>
              <a:srgbClr val="35386B"/>
            </a:solidFill>
            <a:prstDash val="solid"/>
          </a:ln>
        </p:spPr>
      </p:sp>
      <p:sp>
        <p:nvSpPr>
          <p:cNvPr id="6" name="Shape 4"/>
          <p:cNvSpPr/>
          <p:nvPr/>
        </p:nvSpPr>
        <p:spPr>
          <a:xfrm>
            <a:off x="812800" y="5838825"/>
            <a:ext cx="10566400" cy="0"/>
          </a:xfrm>
          <a:prstGeom prst="line">
            <a:avLst/>
          </a:prstGeom>
          <a:noFill/>
          <a:ln w="6350">
            <a:solidFill>
              <a:srgbClr val="35386B"/>
            </a:solidFill>
            <a:prstDash val="solid"/>
          </a:ln>
        </p:spPr>
      </p:sp>
      <p:sp>
        <p:nvSpPr>
          <p:cNvPr id="7" name="Text 5"/>
          <p:cNvSpPr/>
          <p:nvPr/>
        </p:nvSpPr>
        <p:spPr>
          <a:xfrm>
            <a:off x="812800" y="5005139"/>
            <a:ext cx="25197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5A2E6"/>
                </a:solidFill>
                <a:latin typeface="IBM Plex Sans" pitchFamily="34" charset="0"/>
                <a:ea typeface="IBM Plex Sans" pitchFamily="34" charset="-122"/>
                <a:cs typeface="IBM Plex Sans" pitchFamily="34" charset="-120"/>
              </a:rPr>
              <a:t>Rating</a:t>
            </a:r>
            <a:endParaRPr lang="en-US" sz="1200" dirty="0"/>
          </a:p>
        </p:txBody>
      </p:sp>
      <p:sp>
        <p:nvSpPr>
          <p:cNvPr id="8" name="Text 6"/>
          <p:cNvSpPr/>
          <p:nvPr/>
        </p:nvSpPr>
        <p:spPr>
          <a:xfrm>
            <a:off x="812800" y="5269260"/>
            <a:ext cx="2519728" cy="388590"/>
          </a:xfrm>
          <a:prstGeom prst="rect">
            <a:avLst/>
          </a:prstGeom>
          <a:noFill/>
          <a:ln/>
        </p:spPr>
        <p:txBody>
          <a:bodyPr wrap="square" lIns="0" tIns="0" rIns="0" bIns="0" rtlCol="0" anchor="t">
            <a:normAutofit/>
          </a:bodyPr>
          <a:lstStyle/>
          <a:p>
            <a:pPr algn="l" indent="0" marL="0">
              <a:lnSpc>
                <a:spcPts val="2860"/>
              </a:lnSpc>
              <a:buNone/>
            </a:pPr>
            <a:r>
              <a:rPr lang="en-US" sz="2600" b="1" dirty="0">
                <a:solidFill>
                  <a:srgbClr val="FFFFFF"/>
                </a:solidFill>
                <a:latin typeface="Rubik" pitchFamily="34" charset="0"/>
                <a:ea typeface="Rubik" pitchFamily="34" charset="-122"/>
                <a:cs typeface="Rubik" pitchFamily="34" charset="-120"/>
              </a:rPr>
              <a:t>Buy</a:t>
            </a:r>
            <a:endParaRPr lang="en-US" sz="2600" dirty="0"/>
          </a:p>
        </p:txBody>
      </p:sp>
      <p:sp>
        <p:nvSpPr>
          <p:cNvPr id="9" name="Shape 7"/>
          <p:cNvSpPr/>
          <p:nvPr/>
        </p:nvSpPr>
        <p:spPr>
          <a:xfrm>
            <a:off x="3262313" y="4801939"/>
            <a:ext cx="0" cy="1033711"/>
          </a:xfrm>
          <a:prstGeom prst="line">
            <a:avLst/>
          </a:prstGeom>
          <a:noFill/>
          <a:ln w="6350">
            <a:solidFill>
              <a:srgbClr val="35386B"/>
            </a:solidFill>
            <a:prstDash val="solid"/>
          </a:ln>
        </p:spPr>
      </p:sp>
      <p:sp>
        <p:nvSpPr>
          <p:cNvPr id="10" name="Text 8"/>
          <p:cNvSpPr/>
          <p:nvPr/>
        </p:nvSpPr>
        <p:spPr>
          <a:xfrm>
            <a:off x="3519488" y="5005139"/>
            <a:ext cx="25197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5A2E6"/>
                </a:solidFill>
                <a:latin typeface="IBM Plex Sans" pitchFamily="34" charset="0"/>
                <a:ea typeface="IBM Plex Sans" pitchFamily="34" charset="-122"/>
                <a:cs typeface="IBM Plex Sans" pitchFamily="34" charset="-120"/>
              </a:rPr>
              <a:t>Price, 17 Sep 26</a:t>
            </a:r>
            <a:endParaRPr lang="en-US" sz="1200" dirty="0"/>
          </a:p>
        </p:txBody>
      </p:sp>
      <p:sp>
        <p:nvSpPr>
          <p:cNvPr id="11" name="Text 9"/>
          <p:cNvSpPr/>
          <p:nvPr/>
        </p:nvSpPr>
        <p:spPr>
          <a:xfrm>
            <a:off x="3519488" y="5269260"/>
            <a:ext cx="2519728" cy="388590"/>
          </a:xfrm>
          <a:prstGeom prst="rect">
            <a:avLst/>
          </a:prstGeom>
          <a:noFill/>
          <a:ln/>
        </p:spPr>
        <p:txBody>
          <a:bodyPr wrap="square" lIns="0" tIns="0" rIns="0" bIns="0" rtlCol="0" anchor="t">
            <a:normAutofit/>
          </a:bodyPr>
          <a:lstStyle/>
          <a:p>
            <a:pPr algn="l" indent="0" marL="0">
              <a:lnSpc>
                <a:spcPts val="2860"/>
              </a:lnSpc>
              <a:buNone/>
            </a:pPr>
            <a:r>
              <a:rPr lang="en-US" sz="2600" b="1" dirty="0">
                <a:solidFill>
                  <a:srgbClr val="FFFFFF"/>
                </a:solidFill>
                <a:latin typeface="Rubik" pitchFamily="34" charset="0"/>
                <a:ea typeface="Rubik" pitchFamily="34" charset="-122"/>
                <a:cs typeface="Rubik" pitchFamily="34" charset="-120"/>
              </a:rPr>
              <a:t>$184.26</a:t>
            </a:r>
            <a:endParaRPr lang="en-US" sz="2600" dirty="0"/>
          </a:p>
        </p:txBody>
      </p:sp>
      <p:sp>
        <p:nvSpPr>
          <p:cNvPr id="12" name="Shape 10"/>
          <p:cNvSpPr/>
          <p:nvPr/>
        </p:nvSpPr>
        <p:spPr>
          <a:xfrm>
            <a:off x="5969000" y="4801939"/>
            <a:ext cx="0" cy="1033711"/>
          </a:xfrm>
          <a:prstGeom prst="line">
            <a:avLst/>
          </a:prstGeom>
          <a:noFill/>
          <a:ln w="6350">
            <a:solidFill>
              <a:srgbClr val="35386B"/>
            </a:solidFill>
            <a:prstDash val="solid"/>
          </a:ln>
        </p:spPr>
      </p:sp>
      <p:sp>
        <p:nvSpPr>
          <p:cNvPr id="13" name="Text 11"/>
          <p:cNvSpPr/>
          <p:nvPr/>
        </p:nvSpPr>
        <p:spPr>
          <a:xfrm>
            <a:off x="6226175" y="5005139"/>
            <a:ext cx="25197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5A2E6"/>
                </a:solidFill>
                <a:latin typeface="IBM Plex Sans" pitchFamily="34" charset="0"/>
                <a:ea typeface="IBM Plex Sans" pitchFamily="34" charset="-122"/>
                <a:cs typeface="IBM Plex Sans" pitchFamily="34" charset="-120"/>
              </a:rPr>
              <a:t>Target price</a:t>
            </a:r>
            <a:endParaRPr lang="en-US" sz="1200" dirty="0"/>
          </a:p>
        </p:txBody>
      </p:sp>
      <p:sp>
        <p:nvSpPr>
          <p:cNvPr id="14" name="Text 12"/>
          <p:cNvSpPr/>
          <p:nvPr/>
        </p:nvSpPr>
        <p:spPr>
          <a:xfrm>
            <a:off x="6226175" y="5269260"/>
            <a:ext cx="2519728" cy="388590"/>
          </a:xfrm>
          <a:prstGeom prst="rect">
            <a:avLst/>
          </a:prstGeom>
          <a:noFill/>
          <a:ln/>
        </p:spPr>
        <p:txBody>
          <a:bodyPr wrap="square" lIns="0" tIns="0" rIns="0" bIns="0" rtlCol="0" anchor="t">
            <a:normAutofit/>
          </a:bodyPr>
          <a:lstStyle/>
          <a:p>
            <a:pPr algn="l" indent="0" marL="0">
              <a:lnSpc>
                <a:spcPts val="2860"/>
              </a:lnSpc>
              <a:buNone/>
            </a:pPr>
            <a:r>
              <a:rPr lang="en-US" sz="2600" b="1" dirty="0">
                <a:solidFill>
                  <a:srgbClr val="FFFFFF"/>
                </a:solidFill>
                <a:latin typeface="Rubik" pitchFamily="34" charset="0"/>
                <a:ea typeface="Rubik" pitchFamily="34" charset="-122"/>
                <a:cs typeface="Rubik" pitchFamily="34" charset="-120"/>
              </a:rPr>
              <a:t>$213.00</a:t>
            </a:r>
            <a:endParaRPr lang="en-US" sz="2600" dirty="0"/>
          </a:p>
        </p:txBody>
      </p:sp>
      <p:sp>
        <p:nvSpPr>
          <p:cNvPr id="15" name="Shape 13"/>
          <p:cNvSpPr/>
          <p:nvPr/>
        </p:nvSpPr>
        <p:spPr>
          <a:xfrm>
            <a:off x="8675688" y="4801939"/>
            <a:ext cx="0" cy="1033711"/>
          </a:xfrm>
          <a:prstGeom prst="line">
            <a:avLst/>
          </a:prstGeom>
          <a:noFill/>
          <a:ln w="6350">
            <a:solidFill>
              <a:srgbClr val="35386B"/>
            </a:solidFill>
            <a:prstDash val="solid"/>
          </a:ln>
        </p:spPr>
      </p:sp>
      <p:sp>
        <p:nvSpPr>
          <p:cNvPr id="16" name="Text 14"/>
          <p:cNvSpPr/>
          <p:nvPr/>
        </p:nvSpPr>
        <p:spPr>
          <a:xfrm>
            <a:off x="8932863" y="5005139"/>
            <a:ext cx="25197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5A2E6"/>
                </a:solidFill>
                <a:latin typeface="IBM Plex Sans" pitchFamily="34" charset="0"/>
                <a:ea typeface="IBM Plex Sans" pitchFamily="34" charset="-122"/>
                <a:cs typeface="IBM Plex Sans" pitchFamily="34" charset="-120"/>
              </a:rPr>
              <a:t>Total return</a:t>
            </a:r>
            <a:endParaRPr lang="en-US" sz="1200" dirty="0"/>
          </a:p>
        </p:txBody>
      </p:sp>
      <p:sp>
        <p:nvSpPr>
          <p:cNvPr id="17" name="Text 15"/>
          <p:cNvSpPr/>
          <p:nvPr/>
        </p:nvSpPr>
        <p:spPr>
          <a:xfrm>
            <a:off x="8932863" y="5269260"/>
            <a:ext cx="2519728" cy="388590"/>
          </a:xfrm>
          <a:prstGeom prst="rect">
            <a:avLst/>
          </a:prstGeom>
          <a:noFill/>
          <a:ln/>
        </p:spPr>
        <p:txBody>
          <a:bodyPr wrap="square" lIns="0" tIns="0" rIns="0" bIns="0" rtlCol="0" anchor="t">
            <a:normAutofit/>
          </a:bodyPr>
          <a:lstStyle/>
          <a:p>
            <a:pPr algn="l" indent="0" marL="0">
              <a:lnSpc>
                <a:spcPts val="2860"/>
              </a:lnSpc>
              <a:buNone/>
            </a:pPr>
            <a:r>
              <a:rPr lang="en-US" sz="2600" b="1" dirty="0">
                <a:solidFill>
                  <a:srgbClr val="FFFFFF"/>
                </a:solidFill>
                <a:latin typeface="Rubik" pitchFamily="34" charset="0"/>
                <a:ea typeface="Rubik" pitchFamily="34" charset="-122"/>
                <a:cs typeface="Rubik" pitchFamily="34" charset="-120"/>
              </a:rPr>
              <a:t>18.3%</a:t>
            </a:r>
            <a:endParaRPr lang="en-US" sz="2600" dirty="0"/>
          </a:p>
        </p:txBody>
      </p:sp>
      <p:sp>
        <p:nvSpPr>
          <p:cNvPr id="18" name="Text 16"/>
          <p:cNvSpPr/>
          <p:nvPr/>
        </p:nvSpPr>
        <p:spPr>
          <a:xfrm>
            <a:off x="812800" y="6238280"/>
            <a:ext cx="600218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BA8"/>
                </a:solidFill>
                <a:latin typeface="IBM Plex Sans" pitchFamily="34" charset="0"/>
                <a:ea typeface="IBM Plex Sans" pitchFamily="34" charset="-122"/>
                <a:cs typeface="IBM Plex Sans" pitchFamily="34" charset="-120"/>
              </a:rPr>
              <a:t>Md Saeed Zaman · Simon Business School, University of Rochester · September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A2BE0"/>
                </a:solidFill>
                <a:latin typeface="IBM Plex Sans" pitchFamily="34" charset="0"/>
                <a:ea typeface="IBM Plex Sans" pitchFamily="34" charset="-122"/>
                <a:cs typeface="IBM Plex Sans" pitchFamily="34" charset="-120"/>
              </a:rPr>
              <a:t>THE BUSINESS</a:t>
            </a:r>
            <a:endParaRPr lang="en-US" sz="1200" dirty="0"/>
          </a:p>
        </p:txBody>
      </p:sp>
      <p:sp>
        <p:nvSpPr>
          <p:cNvPr id="3" name="Text 1"/>
          <p:cNvSpPr/>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0E1033"/>
                </a:solidFill>
                <a:latin typeface="Rubik" pitchFamily="34" charset="0"/>
                <a:ea typeface="Rubik" pitchFamily="34" charset="-122"/>
                <a:cs typeface="Rubik" pitchFamily="34" charset="-120"/>
              </a:rPr>
              <a:t>What Digital Realty owns</a:t>
            </a:r>
            <a:endParaRPr lang="en-US" sz="3200" dirty="0"/>
          </a:p>
        </p:txBody>
      </p:sp>
      <p:sp>
        <p:nvSpPr>
          <p:cNvPr id="4" name="Text 2"/>
          <p:cNvSpPr/>
          <p:nvPr/>
        </p:nvSpPr>
        <p:spPr>
          <a:xfrm>
            <a:off x="812800" y="1676350"/>
            <a:ext cx="9287510"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5B5E7D"/>
                </a:solidFill>
                <a:latin typeface="IBM Plex Sans" pitchFamily="34" charset="0"/>
                <a:ea typeface="IBM Plex Sans" pitchFamily="34" charset="-122"/>
                <a:cs typeface="IBM Plex Sans" pitchFamily="34" charset="-120"/>
              </a:rPr>
              <a:t>DLR builds and leases data centers. Customers pay for space, power and the network connections between them. Leases run for years, so revenue is contracted rather than transactional.</a:t>
            </a:r>
            <a:endParaRPr lang="en-US" sz="1500" dirty="0"/>
          </a:p>
        </p:txBody>
      </p:sp>
      <p:sp>
        <p:nvSpPr>
          <p:cNvPr id="5" name="Shape 3"/>
          <p:cNvSpPr/>
          <p:nvPr/>
        </p:nvSpPr>
        <p:spPr>
          <a:xfrm>
            <a:off x="812800" y="2595414"/>
            <a:ext cx="10566400" cy="0"/>
          </a:xfrm>
          <a:prstGeom prst="line">
            <a:avLst/>
          </a:prstGeom>
          <a:noFill/>
          <a:ln w="12700">
            <a:solidFill>
              <a:srgbClr val="0E1033"/>
            </a:solidFill>
            <a:prstDash val="solid"/>
          </a:ln>
        </p:spPr>
      </p:sp>
      <p:sp>
        <p:nvSpPr>
          <p:cNvPr id="6" name="Text 4"/>
          <p:cNvSpPr/>
          <p:nvPr/>
        </p:nvSpPr>
        <p:spPr>
          <a:xfrm>
            <a:off x="812800" y="2766864"/>
            <a:ext cx="1983049" cy="2476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5B5E7D"/>
                </a:solidFill>
                <a:latin typeface="IBM Plex Sans" pitchFamily="34" charset="0"/>
                <a:ea typeface="IBM Plex Sans" pitchFamily="34" charset="-122"/>
                <a:cs typeface="IBM Plex Sans" pitchFamily="34" charset="-120"/>
              </a:rPr>
              <a:t>Data centers</a:t>
            </a:r>
            <a:endParaRPr lang="en-US" sz="1250" dirty="0"/>
          </a:p>
        </p:txBody>
      </p:sp>
      <p:sp>
        <p:nvSpPr>
          <p:cNvPr id="7" name="Text 5"/>
          <p:cNvSpPr/>
          <p:nvPr/>
        </p:nvSpPr>
        <p:spPr>
          <a:xfrm>
            <a:off x="812800" y="3039914"/>
            <a:ext cx="1983049" cy="402580"/>
          </a:xfrm>
          <a:prstGeom prst="rect">
            <a:avLst/>
          </a:prstGeom>
          <a:noFill/>
          <a:ln/>
        </p:spPr>
        <p:txBody>
          <a:bodyPr wrap="square" lIns="0" tIns="0" rIns="0" bIns="0" rtlCol="0" anchor="t">
            <a:normAutofit/>
          </a:bodyPr>
          <a:lstStyle/>
          <a:p>
            <a:pPr algn="l" indent="0" marL="0">
              <a:lnSpc>
                <a:spcPts val="2970"/>
              </a:lnSpc>
              <a:buNone/>
            </a:pPr>
            <a:r>
              <a:rPr lang="en-US" sz="2700" b="1" dirty="0">
                <a:solidFill>
                  <a:srgbClr val="0E1033"/>
                </a:solidFill>
                <a:latin typeface="Rubik" pitchFamily="34" charset="0"/>
                <a:ea typeface="Rubik" pitchFamily="34" charset="-122"/>
                <a:cs typeface="Rubik" pitchFamily="34" charset="-120"/>
              </a:rPr>
              <a:t>310</a:t>
            </a:r>
            <a:endParaRPr lang="en-US" sz="2700" dirty="0"/>
          </a:p>
        </p:txBody>
      </p:sp>
      <p:sp>
        <p:nvSpPr>
          <p:cNvPr id="8" name="Shape 6"/>
          <p:cNvSpPr/>
          <p:nvPr/>
        </p:nvSpPr>
        <p:spPr>
          <a:xfrm>
            <a:off x="2741265" y="2601764"/>
            <a:ext cx="0" cy="980430"/>
          </a:xfrm>
          <a:prstGeom prst="line">
            <a:avLst/>
          </a:prstGeom>
          <a:noFill/>
          <a:ln w="6350">
            <a:solidFill>
              <a:srgbClr val="D8DAE5"/>
            </a:solidFill>
            <a:prstDash val="solid"/>
          </a:ln>
        </p:spPr>
      </p:sp>
      <p:sp>
        <p:nvSpPr>
          <p:cNvPr id="9" name="Text 7"/>
          <p:cNvSpPr/>
          <p:nvPr/>
        </p:nvSpPr>
        <p:spPr>
          <a:xfrm>
            <a:off x="2973040" y="2766864"/>
            <a:ext cx="1983100" cy="2476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5B5E7D"/>
                </a:solidFill>
                <a:latin typeface="IBM Plex Sans" pitchFamily="34" charset="0"/>
                <a:ea typeface="IBM Plex Sans" pitchFamily="34" charset="-122"/>
                <a:cs typeface="IBM Plex Sans" pitchFamily="34" charset="-120"/>
              </a:rPr>
              <a:t>Power in service</a:t>
            </a:r>
            <a:endParaRPr lang="en-US" sz="1250" dirty="0"/>
          </a:p>
        </p:txBody>
      </p:sp>
      <p:sp>
        <p:nvSpPr>
          <p:cNvPr id="10" name="Text 8"/>
          <p:cNvSpPr/>
          <p:nvPr/>
        </p:nvSpPr>
        <p:spPr>
          <a:xfrm>
            <a:off x="2973040" y="3039914"/>
            <a:ext cx="1983100" cy="402580"/>
          </a:xfrm>
          <a:prstGeom prst="rect">
            <a:avLst/>
          </a:prstGeom>
          <a:noFill/>
          <a:ln/>
        </p:spPr>
        <p:txBody>
          <a:bodyPr wrap="square" lIns="0" tIns="0" rIns="0" bIns="0" rtlCol="0" anchor="t">
            <a:normAutofit/>
          </a:bodyPr>
          <a:lstStyle/>
          <a:p>
            <a:pPr algn="l" indent="0" marL="0">
              <a:lnSpc>
                <a:spcPts val="2970"/>
              </a:lnSpc>
              <a:buNone/>
            </a:pPr>
            <a:r>
              <a:rPr lang="en-US" sz="2700" b="1" dirty="0">
                <a:solidFill>
                  <a:srgbClr val="0E1033"/>
                </a:solidFill>
                <a:latin typeface="Rubik" pitchFamily="34" charset="0"/>
                <a:ea typeface="Rubik" pitchFamily="34" charset="-122"/>
                <a:cs typeface="Rubik" pitchFamily="34" charset="-120"/>
              </a:rPr>
              <a:t>3 GW</a:t>
            </a:r>
            <a:endParaRPr lang="en-US" sz="2700" dirty="0"/>
          </a:p>
        </p:txBody>
      </p:sp>
      <p:sp>
        <p:nvSpPr>
          <p:cNvPr id="11" name="Shape 9"/>
          <p:cNvSpPr/>
          <p:nvPr/>
        </p:nvSpPr>
        <p:spPr>
          <a:xfrm>
            <a:off x="4901555" y="2601764"/>
            <a:ext cx="0" cy="980430"/>
          </a:xfrm>
          <a:prstGeom prst="line">
            <a:avLst/>
          </a:prstGeom>
          <a:noFill/>
          <a:ln w="6350">
            <a:solidFill>
              <a:srgbClr val="D8DAE5"/>
            </a:solidFill>
            <a:prstDash val="solid"/>
          </a:ln>
        </p:spPr>
      </p:sp>
      <p:sp>
        <p:nvSpPr>
          <p:cNvPr id="12" name="Text 10"/>
          <p:cNvSpPr/>
          <p:nvPr/>
        </p:nvSpPr>
        <p:spPr>
          <a:xfrm>
            <a:off x="5133330" y="2766864"/>
            <a:ext cx="1983049" cy="2476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5B5E7D"/>
                </a:solidFill>
                <a:latin typeface="IBM Plex Sans" pitchFamily="34" charset="0"/>
                <a:ea typeface="IBM Plex Sans" pitchFamily="34" charset="-122"/>
                <a:cs typeface="IBM Plex Sans" pitchFamily="34" charset="-120"/>
              </a:rPr>
              <a:t>Buildable capacity</a:t>
            </a:r>
            <a:endParaRPr lang="en-US" sz="1250" dirty="0"/>
          </a:p>
        </p:txBody>
      </p:sp>
      <p:sp>
        <p:nvSpPr>
          <p:cNvPr id="13" name="Text 11"/>
          <p:cNvSpPr/>
          <p:nvPr/>
        </p:nvSpPr>
        <p:spPr>
          <a:xfrm>
            <a:off x="5133330" y="3039914"/>
            <a:ext cx="1983049" cy="402580"/>
          </a:xfrm>
          <a:prstGeom prst="rect">
            <a:avLst/>
          </a:prstGeom>
          <a:noFill/>
          <a:ln/>
        </p:spPr>
        <p:txBody>
          <a:bodyPr wrap="square" lIns="0" tIns="0" rIns="0" bIns="0" rtlCol="0" anchor="t">
            <a:normAutofit/>
          </a:bodyPr>
          <a:lstStyle/>
          <a:p>
            <a:pPr algn="l" indent="0" marL="0">
              <a:lnSpc>
                <a:spcPts val="2970"/>
              </a:lnSpc>
              <a:buNone/>
            </a:pPr>
            <a:r>
              <a:rPr lang="en-US" sz="2700" b="1" dirty="0">
                <a:solidFill>
                  <a:srgbClr val="0E1033"/>
                </a:solidFill>
                <a:latin typeface="Rubik" pitchFamily="34" charset="0"/>
                <a:ea typeface="Rubik" pitchFamily="34" charset="-122"/>
                <a:cs typeface="Rubik" pitchFamily="34" charset="-120"/>
              </a:rPr>
              <a:t>9 GW</a:t>
            </a:r>
            <a:endParaRPr lang="en-US" sz="2700" dirty="0"/>
          </a:p>
        </p:txBody>
      </p:sp>
      <p:sp>
        <p:nvSpPr>
          <p:cNvPr id="14" name="Shape 12"/>
          <p:cNvSpPr/>
          <p:nvPr/>
        </p:nvSpPr>
        <p:spPr>
          <a:xfrm>
            <a:off x="7061795" y="2601764"/>
            <a:ext cx="0" cy="980430"/>
          </a:xfrm>
          <a:prstGeom prst="line">
            <a:avLst/>
          </a:prstGeom>
          <a:noFill/>
          <a:ln w="6350">
            <a:solidFill>
              <a:srgbClr val="D8DAE5"/>
            </a:solidFill>
            <a:prstDash val="solid"/>
          </a:ln>
        </p:spPr>
      </p:sp>
      <p:sp>
        <p:nvSpPr>
          <p:cNvPr id="15" name="Text 13"/>
          <p:cNvSpPr/>
          <p:nvPr/>
        </p:nvSpPr>
        <p:spPr>
          <a:xfrm>
            <a:off x="7293570" y="2766864"/>
            <a:ext cx="1983100" cy="2476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5B5E7D"/>
                </a:solidFill>
                <a:latin typeface="IBM Plex Sans" pitchFamily="34" charset="0"/>
                <a:ea typeface="IBM Plex Sans" pitchFamily="34" charset="-122"/>
                <a:cs typeface="IBM Plex Sans" pitchFamily="34" charset="-120"/>
              </a:rPr>
              <a:t>Metros</a:t>
            </a:r>
            <a:endParaRPr lang="en-US" sz="1250" dirty="0"/>
          </a:p>
        </p:txBody>
      </p:sp>
      <p:sp>
        <p:nvSpPr>
          <p:cNvPr id="16" name="Text 14"/>
          <p:cNvSpPr/>
          <p:nvPr/>
        </p:nvSpPr>
        <p:spPr>
          <a:xfrm>
            <a:off x="7293570" y="3039914"/>
            <a:ext cx="1983100" cy="402580"/>
          </a:xfrm>
          <a:prstGeom prst="rect">
            <a:avLst/>
          </a:prstGeom>
          <a:noFill/>
          <a:ln/>
        </p:spPr>
        <p:txBody>
          <a:bodyPr wrap="square" lIns="0" tIns="0" rIns="0" bIns="0" rtlCol="0" anchor="t">
            <a:normAutofit/>
          </a:bodyPr>
          <a:lstStyle/>
          <a:p>
            <a:pPr algn="l" indent="0" marL="0">
              <a:lnSpc>
                <a:spcPts val="2970"/>
              </a:lnSpc>
              <a:buNone/>
            </a:pPr>
            <a:r>
              <a:rPr lang="en-US" sz="2700" b="1" dirty="0">
                <a:solidFill>
                  <a:srgbClr val="0E1033"/>
                </a:solidFill>
                <a:latin typeface="Rubik" pitchFamily="34" charset="0"/>
                <a:ea typeface="Rubik" pitchFamily="34" charset="-122"/>
                <a:cs typeface="Rubik" pitchFamily="34" charset="-120"/>
              </a:rPr>
              <a:t>55+</a:t>
            </a:r>
            <a:endParaRPr lang="en-US" sz="2700" dirty="0"/>
          </a:p>
        </p:txBody>
      </p:sp>
      <p:sp>
        <p:nvSpPr>
          <p:cNvPr id="17" name="Shape 15"/>
          <p:cNvSpPr/>
          <p:nvPr/>
        </p:nvSpPr>
        <p:spPr>
          <a:xfrm>
            <a:off x="9222085" y="2601764"/>
            <a:ext cx="0" cy="980430"/>
          </a:xfrm>
          <a:prstGeom prst="line">
            <a:avLst/>
          </a:prstGeom>
          <a:noFill/>
          <a:ln w="6350">
            <a:solidFill>
              <a:srgbClr val="D8DAE5"/>
            </a:solidFill>
            <a:prstDash val="solid"/>
          </a:ln>
        </p:spPr>
      </p:sp>
      <p:sp>
        <p:nvSpPr>
          <p:cNvPr id="18" name="Text 16"/>
          <p:cNvSpPr/>
          <p:nvPr/>
        </p:nvSpPr>
        <p:spPr>
          <a:xfrm>
            <a:off x="9453860" y="2766864"/>
            <a:ext cx="1983100" cy="2476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5B5E7D"/>
                </a:solidFill>
                <a:latin typeface="IBM Plex Sans" pitchFamily="34" charset="0"/>
                <a:ea typeface="IBM Plex Sans" pitchFamily="34" charset="-122"/>
                <a:cs typeface="IBM Plex Sans" pitchFamily="34" charset="-120"/>
              </a:rPr>
              <a:t>Countries</a:t>
            </a:r>
            <a:endParaRPr lang="en-US" sz="1250" dirty="0"/>
          </a:p>
        </p:txBody>
      </p:sp>
      <p:sp>
        <p:nvSpPr>
          <p:cNvPr id="19" name="Text 17"/>
          <p:cNvSpPr/>
          <p:nvPr/>
        </p:nvSpPr>
        <p:spPr>
          <a:xfrm>
            <a:off x="9453860" y="3039914"/>
            <a:ext cx="1983100" cy="402580"/>
          </a:xfrm>
          <a:prstGeom prst="rect">
            <a:avLst/>
          </a:prstGeom>
          <a:noFill/>
          <a:ln/>
        </p:spPr>
        <p:txBody>
          <a:bodyPr wrap="square" lIns="0" tIns="0" rIns="0" bIns="0" rtlCol="0" anchor="t">
            <a:normAutofit/>
          </a:bodyPr>
          <a:lstStyle/>
          <a:p>
            <a:pPr algn="l" indent="0" marL="0">
              <a:lnSpc>
                <a:spcPts val="2970"/>
              </a:lnSpc>
              <a:buNone/>
            </a:pPr>
            <a:r>
              <a:rPr lang="en-US" sz="2700" b="1" dirty="0">
                <a:solidFill>
                  <a:srgbClr val="0E1033"/>
                </a:solidFill>
                <a:latin typeface="Rubik" pitchFamily="34" charset="0"/>
                <a:ea typeface="Rubik" pitchFamily="34" charset="-122"/>
                <a:cs typeface="Rubik" pitchFamily="34" charset="-120"/>
              </a:rPr>
              <a:t>30+</a:t>
            </a:r>
            <a:endParaRPr lang="en-US" sz="2700" dirty="0"/>
          </a:p>
        </p:txBody>
      </p:sp>
      <p:sp>
        <p:nvSpPr>
          <p:cNvPr id="20" name="Shape 18"/>
          <p:cNvSpPr/>
          <p:nvPr/>
        </p:nvSpPr>
        <p:spPr>
          <a:xfrm>
            <a:off x="812800" y="4926112"/>
            <a:ext cx="10566400" cy="0"/>
          </a:xfrm>
          <a:prstGeom prst="line">
            <a:avLst/>
          </a:prstGeom>
          <a:noFill/>
          <a:ln w="6350">
            <a:solidFill>
              <a:srgbClr val="D8DAE5"/>
            </a:solidFill>
            <a:prstDash val="solid"/>
          </a:ln>
        </p:spPr>
      </p:sp>
      <p:sp>
        <p:nvSpPr>
          <p:cNvPr id="21" name="Text 19"/>
          <p:cNvSpPr/>
          <p:nvPr/>
        </p:nvSpPr>
        <p:spPr>
          <a:xfrm>
            <a:off x="812800" y="4107607"/>
            <a:ext cx="1983049" cy="2476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5B5E7D"/>
                </a:solidFill>
                <a:latin typeface="IBM Plex Sans" pitchFamily="34" charset="0"/>
                <a:ea typeface="IBM Plex Sans" pitchFamily="34" charset="-122"/>
                <a:cs typeface="IBM Plex Sans" pitchFamily="34" charset="-120"/>
              </a:rPr>
              <a:t>FY25 revenue</a:t>
            </a:r>
            <a:endParaRPr lang="en-US" sz="1250" dirty="0"/>
          </a:p>
        </p:txBody>
      </p:sp>
      <p:sp>
        <p:nvSpPr>
          <p:cNvPr id="22" name="Text 20"/>
          <p:cNvSpPr/>
          <p:nvPr/>
        </p:nvSpPr>
        <p:spPr>
          <a:xfrm>
            <a:off x="812800" y="4380657"/>
            <a:ext cx="1983049" cy="402580"/>
          </a:xfrm>
          <a:prstGeom prst="rect">
            <a:avLst/>
          </a:prstGeom>
          <a:noFill/>
          <a:ln/>
        </p:spPr>
        <p:txBody>
          <a:bodyPr wrap="square" lIns="0" tIns="0" rIns="0" bIns="0" rtlCol="0" anchor="t">
            <a:normAutofit/>
          </a:bodyPr>
          <a:lstStyle/>
          <a:p>
            <a:pPr algn="l" indent="0" marL="0">
              <a:lnSpc>
                <a:spcPts val="2970"/>
              </a:lnSpc>
              <a:buNone/>
            </a:pPr>
            <a:r>
              <a:rPr lang="en-US" sz="2700" b="1" dirty="0">
                <a:solidFill>
                  <a:srgbClr val="0E1033"/>
                </a:solidFill>
                <a:latin typeface="Rubik" pitchFamily="34" charset="0"/>
                <a:ea typeface="Rubik" pitchFamily="34" charset="-122"/>
                <a:cs typeface="Rubik" pitchFamily="34" charset="-120"/>
              </a:rPr>
              <a:t>$6.1bn</a:t>
            </a:r>
            <a:endParaRPr lang="en-US" sz="2700" dirty="0"/>
          </a:p>
        </p:txBody>
      </p:sp>
      <p:sp>
        <p:nvSpPr>
          <p:cNvPr id="23" name="Shape 21"/>
          <p:cNvSpPr/>
          <p:nvPr/>
        </p:nvSpPr>
        <p:spPr>
          <a:xfrm>
            <a:off x="2741265" y="3942507"/>
            <a:ext cx="0" cy="980430"/>
          </a:xfrm>
          <a:prstGeom prst="line">
            <a:avLst/>
          </a:prstGeom>
          <a:noFill/>
          <a:ln w="6350">
            <a:solidFill>
              <a:srgbClr val="D8DAE5"/>
            </a:solidFill>
            <a:prstDash val="solid"/>
          </a:ln>
        </p:spPr>
      </p:sp>
      <p:sp>
        <p:nvSpPr>
          <p:cNvPr id="24" name="Text 22"/>
          <p:cNvSpPr/>
          <p:nvPr/>
        </p:nvSpPr>
        <p:spPr>
          <a:xfrm>
            <a:off x="2973040" y="4107607"/>
            <a:ext cx="1983100" cy="2476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5B5E7D"/>
                </a:solidFill>
                <a:latin typeface="IBM Plex Sans" pitchFamily="34" charset="0"/>
                <a:ea typeface="IBM Plex Sans" pitchFamily="34" charset="-122"/>
                <a:cs typeface="IBM Plex Sans" pitchFamily="34" charset="-120"/>
              </a:rPr>
              <a:t>FY25 Core FFO / share</a:t>
            </a:r>
            <a:endParaRPr lang="en-US" sz="1250" dirty="0"/>
          </a:p>
        </p:txBody>
      </p:sp>
      <p:sp>
        <p:nvSpPr>
          <p:cNvPr id="25" name="Text 23"/>
          <p:cNvSpPr/>
          <p:nvPr/>
        </p:nvSpPr>
        <p:spPr>
          <a:xfrm>
            <a:off x="2973040" y="4380657"/>
            <a:ext cx="1983100" cy="402580"/>
          </a:xfrm>
          <a:prstGeom prst="rect">
            <a:avLst/>
          </a:prstGeom>
          <a:noFill/>
          <a:ln/>
        </p:spPr>
        <p:txBody>
          <a:bodyPr wrap="square" lIns="0" tIns="0" rIns="0" bIns="0" rtlCol="0" anchor="t">
            <a:normAutofit/>
          </a:bodyPr>
          <a:lstStyle/>
          <a:p>
            <a:pPr algn="l" indent="0" marL="0">
              <a:lnSpc>
                <a:spcPts val="2970"/>
              </a:lnSpc>
              <a:buNone/>
            </a:pPr>
            <a:r>
              <a:rPr lang="en-US" sz="2700" b="1" dirty="0">
                <a:solidFill>
                  <a:srgbClr val="0E1033"/>
                </a:solidFill>
                <a:latin typeface="Rubik" pitchFamily="34" charset="0"/>
                <a:ea typeface="Rubik" pitchFamily="34" charset="-122"/>
                <a:cs typeface="Rubik" pitchFamily="34" charset="-120"/>
              </a:rPr>
              <a:t>$7.43</a:t>
            </a:r>
            <a:endParaRPr lang="en-US" sz="2700" dirty="0"/>
          </a:p>
        </p:txBody>
      </p:sp>
      <p:sp>
        <p:nvSpPr>
          <p:cNvPr id="26" name="Shape 24"/>
          <p:cNvSpPr/>
          <p:nvPr/>
        </p:nvSpPr>
        <p:spPr>
          <a:xfrm>
            <a:off x="4901555" y="3942507"/>
            <a:ext cx="0" cy="980430"/>
          </a:xfrm>
          <a:prstGeom prst="line">
            <a:avLst/>
          </a:prstGeom>
          <a:noFill/>
          <a:ln w="6350">
            <a:solidFill>
              <a:srgbClr val="D8DAE5"/>
            </a:solidFill>
            <a:prstDash val="solid"/>
          </a:ln>
        </p:spPr>
      </p:sp>
      <p:sp>
        <p:nvSpPr>
          <p:cNvPr id="27" name="Text 25"/>
          <p:cNvSpPr/>
          <p:nvPr/>
        </p:nvSpPr>
        <p:spPr>
          <a:xfrm>
            <a:off x="5133330" y="4107607"/>
            <a:ext cx="1983049" cy="2476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5B5E7D"/>
                </a:solidFill>
                <a:latin typeface="IBM Plex Sans" pitchFamily="34" charset="0"/>
                <a:ea typeface="IBM Plex Sans" pitchFamily="34" charset="-122"/>
                <a:cs typeface="IBM Plex Sans" pitchFamily="34" charset="-120"/>
              </a:rPr>
              <a:t>Net debt / EBITDA</a:t>
            </a:r>
            <a:endParaRPr lang="en-US" sz="1250" dirty="0"/>
          </a:p>
        </p:txBody>
      </p:sp>
      <p:sp>
        <p:nvSpPr>
          <p:cNvPr id="28" name="Text 26"/>
          <p:cNvSpPr/>
          <p:nvPr/>
        </p:nvSpPr>
        <p:spPr>
          <a:xfrm>
            <a:off x="5133330" y="4380657"/>
            <a:ext cx="1983049" cy="402580"/>
          </a:xfrm>
          <a:prstGeom prst="rect">
            <a:avLst/>
          </a:prstGeom>
          <a:noFill/>
          <a:ln/>
        </p:spPr>
        <p:txBody>
          <a:bodyPr wrap="square" lIns="0" tIns="0" rIns="0" bIns="0" rtlCol="0" anchor="t">
            <a:normAutofit/>
          </a:bodyPr>
          <a:lstStyle/>
          <a:p>
            <a:pPr algn="l" indent="0" marL="0">
              <a:lnSpc>
                <a:spcPts val="2970"/>
              </a:lnSpc>
              <a:buNone/>
            </a:pPr>
            <a:r>
              <a:rPr lang="en-US" sz="2700" b="1" dirty="0">
                <a:solidFill>
                  <a:srgbClr val="0E1033"/>
                </a:solidFill>
                <a:latin typeface="Rubik" pitchFamily="34" charset="0"/>
                <a:ea typeface="Rubik" pitchFamily="34" charset="-122"/>
                <a:cs typeface="Rubik" pitchFamily="34" charset="-120"/>
              </a:rPr>
              <a:t>4.8x</a:t>
            </a:r>
            <a:endParaRPr lang="en-US" sz="2700" dirty="0"/>
          </a:p>
        </p:txBody>
      </p:sp>
      <p:sp>
        <p:nvSpPr>
          <p:cNvPr id="29" name="Shape 27"/>
          <p:cNvSpPr/>
          <p:nvPr/>
        </p:nvSpPr>
        <p:spPr>
          <a:xfrm>
            <a:off x="7061795" y="3942507"/>
            <a:ext cx="0" cy="980430"/>
          </a:xfrm>
          <a:prstGeom prst="line">
            <a:avLst/>
          </a:prstGeom>
          <a:noFill/>
          <a:ln w="6350">
            <a:solidFill>
              <a:srgbClr val="D8DAE5"/>
            </a:solidFill>
            <a:prstDash val="solid"/>
          </a:ln>
        </p:spPr>
      </p:sp>
      <p:sp>
        <p:nvSpPr>
          <p:cNvPr id="30" name="Text 28"/>
          <p:cNvSpPr/>
          <p:nvPr/>
        </p:nvSpPr>
        <p:spPr>
          <a:xfrm>
            <a:off x="7293570" y="4107607"/>
            <a:ext cx="1983100" cy="2476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5B5E7D"/>
                </a:solidFill>
                <a:latin typeface="IBM Plex Sans" pitchFamily="34" charset="0"/>
                <a:ea typeface="IBM Plex Sans" pitchFamily="34" charset="-122"/>
                <a:cs typeface="IBM Plex Sans" pitchFamily="34" charset="-120"/>
              </a:rPr>
              <a:t>Dividend yield</a:t>
            </a:r>
            <a:endParaRPr lang="en-US" sz="1250" dirty="0"/>
          </a:p>
        </p:txBody>
      </p:sp>
      <p:sp>
        <p:nvSpPr>
          <p:cNvPr id="31" name="Text 29"/>
          <p:cNvSpPr/>
          <p:nvPr/>
        </p:nvSpPr>
        <p:spPr>
          <a:xfrm>
            <a:off x="7293570" y="4380657"/>
            <a:ext cx="1983100" cy="402580"/>
          </a:xfrm>
          <a:prstGeom prst="rect">
            <a:avLst/>
          </a:prstGeom>
          <a:noFill/>
          <a:ln/>
        </p:spPr>
        <p:txBody>
          <a:bodyPr wrap="square" lIns="0" tIns="0" rIns="0" bIns="0" rtlCol="0" anchor="t">
            <a:normAutofit/>
          </a:bodyPr>
          <a:lstStyle/>
          <a:p>
            <a:pPr algn="l" indent="0" marL="0">
              <a:lnSpc>
                <a:spcPts val="2970"/>
              </a:lnSpc>
              <a:buNone/>
            </a:pPr>
            <a:r>
              <a:rPr lang="en-US" sz="2700" b="1" dirty="0">
                <a:solidFill>
                  <a:srgbClr val="0E1033"/>
                </a:solidFill>
                <a:latin typeface="Rubik" pitchFamily="34" charset="0"/>
                <a:ea typeface="Rubik" pitchFamily="34" charset="-122"/>
                <a:cs typeface="Rubik" pitchFamily="34" charset="-120"/>
              </a:rPr>
              <a:t>2.65%</a:t>
            </a:r>
            <a:endParaRPr lang="en-US" sz="2700" dirty="0"/>
          </a:p>
        </p:txBody>
      </p:sp>
      <p:sp>
        <p:nvSpPr>
          <p:cNvPr id="32" name="Shape 30"/>
          <p:cNvSpPr/>
          <p:nvPr/>
        </p:nvSpPr>
        <p:spPr>
          <a:xfrm>
            <a:off x="9222085" y="3942507"/>
            <a:ext cx="0" cy="980430"/>
          </a:xfrm>
          <a:prstGeom prst="line">
            <a:avLst/>
          </a:prstGeom>
          <a:noFill/>
          <a:ln w="6350">
            <a:solidFill>
              <a:srgbClr val="D8DAE5"/>
            </a:solidFill>
            <a:prstDash val="solid"/>
          </a:ln>
        </p:spPr>
      </p:sp>
      <p:sp>
        <p:nvSpPr>
          <p:cNvPr id="33" name="Text 31"/>
          <p:cNvSpPr/>
          <p:nvPr/>
        </p:nvSpPr>
        <p:spPr>
          <a:xfrm>
            <a:off x="9453860" y="4107607"/>
            <a:ext cx="1983100" cy="2476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5B5E7D"/>
                </a:solidFill>
                <a:latin typeface="IBM Plex Sans" pitchFamily="34" charset="0"/>
                <a:ea typeface="IBM Plex Sans" pitchFamily="34" charset="-122"/>
                <a:cs typeface="IBM Plex Sans" pitchFamily="34" charset="-120"/>
              </a:rPr>
              <a:t>Occupancy</a:t>
            </a:r>
            <a:endParaRPr lang="en-US" sz="1250" dirty="0"/>
          </a:p>
        </p:txBody>
      </p:sp>
      <p:sp>
        <p:nvSpPr>
          <p:cNvPr id="34" name="Text 32"/>
          <p:cNvSpPr/>
          <p:nvPr/>
        </p:nvSpPr>
        <p:spPr>
          <a:xfrm>
            <a:off x="9453860" y="4380657"/>
            <a:ext cx="1983100" cy="402580"/>
          </a:xfrm>
          <a:prstGeom prst="rect">
            <a:avLst/>
          </a:prstGeom>
          <a:noFill/>
          <a:ln/>
        </p:spPr>
        <p:txBody>
          <a:bodyPr wrap="square" lIns="0" tIns="0" rIns="0" bIns="0" rtlCol="0" anchor="t">
            <a:normAutofit/>
          </a:bodyPr>
          <a:lstStyle/>
          <a:p>
            <a:pPr algn="l" indent="0" marL="0">
              <a:lnSpc>
                <a:spcPts val="2970"/>
              </a:lnSpc>
              <a:buNone/>
            </a:pPr>
            <a:r>
              <a:rPr lang="en-US" sz="2700" b="1" dirty="0">
                <a:solidFill>
                  <a:srgbClr val="0E1033"/>
                </a:solidFill>
                <a:latin typeface="Rubik" pitchFamily="34" charset="0"/>
                <a:ea typeface="Rubik" pitchFamily="34" charset="-122"/>
                <a:cs typeface="Rubik" pitchFamily="34" charset="-120"/>
              </a:rPr>
              <a:t>92.5%</a:t>
            </a:r>
            <a:endParaRPr lang="en-US" sz="2700" dirty="0"/>
          </a:p>
        </p:txBody>
      </p:sp>
      <p:sp>
        <p:nvSpPr>
          <p:cNvPr id="35" name="Text 33"/>
          <p:cNvSpPr/>
          <p:nvPr/>
        </p:nvSpPr>
        <p:spPr>
          <a:xfrm>
            <a:off x="812800" y="5289550"/>
            <a:ext cx="9810750"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5B5E7D"/>
                </a:solidFill>
                <a:latin typeface="IBM Plex Sans" pitchFamily="34" charset="0"/>
                <a:ea typeface="IBM Plex Sans" pitchFamily="34" charset="-122"/>
                <a:cs typeface="IBM Plex Sans" pitchFamily="34" charset="-120"/>
              </a:rPr>
              <a:t>Roughly half of rent comes from twenty customers, led by hyperscalers taking capacity above 1 MW. The balance is smaller enterprise deployments that pay a premium for connectivity.</a:t>
            </a:r>
            <a:endParaRPr lang="en-US" sz="1500" dirty="0"/>
          </a:p>
        </p:txBody>
      </p:sp>
      <p:sp>
        <p:nvSpPr>
          <p:cNvPr id="36" name="Text 34"/>
          <p:cNvSpPr/>
          <p:nvPr/>
        </p:nvSpPr>
        <p:spPr>
          <a:xfrm>
            <a:off x="812800" y="6238280"/>
            <a:ext cx="359988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C8099"/>
                </a:solidFill>
                <a:latin typeface="IBM Plex Sans" pitchFamily="34" charset="0"/>
                <a:ea typeface="IBM Plex Sans" pitchFamily="34" charset="-122"/>
                <a:cs typeface="IBM Plex Sans" pitchFamily="34" charset="-120"/>
              </a:rPr>
              <a:t>Source: DLR FY2025 Form 10-K; 2Q26 supplement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A2BE0"/>
                </a:solidFill>
                <a:latin typeface="IBM Plex Sans" pitchFamily="34" charset="0"/>
                <a:ea typeface="IBM Plex Sans" pitchFamily="34" charset="-122"/>
                <a:cs typeface="IBM Plex Sans" pitchFamily="34" charset="-120"/>
              </a:rPr>
              <a:t>RECOMMENDATION</a:t>
            </a:r>
            <a:endParaRPr lang="en-US" sz="1200" dirty="0"/>
          </a:p>
        </p:txBody>
      </p:sp>
      <p:sp>
        <p:nvSpPr>
          <p:cNvPr id="3" name="Text 1"/>
          <p:cNvSpPr/>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0E1033"/>
                </a:solidFill>
                <a:latin typeface="Rubik" pitchFamily="34" charset="0"/>
                <a:ea typeface="Rubik" pitchFamily="34" charset="-122"/>
                <a:cs typeface="Rubik" pitchFamily="34" charset="-120"/>
              </a:rPr>
              <a:t>Buy DLR, target $213</a:t>
            </a:r>
            <a:endParaRPr lang="en-US" sz="3200" dirty="0"/>
          </a:p>
        </p:txBody>
      </p:sp>
      <p:sp>
        <p:nvSpPr>
          <p:cNvPr id="4" name="Shape 2"/>
          <p:cNvSpPr/>
          <p:nvPr/>
        </p:nvSpPr>
        <p:spPr>
          <a:xfrm>
            <a:off x="812800" y="1810395"/>
            <a:ext cx="10566400" cy="0"/>
          </a:xfrm>
          <a:prstGeom prst="line">
            <a:avLst/>
          </a:prstGeom>
          <a:noFill/>
          <a:ln w="12700">
            <a:solidFill>
              <a:srgbClr val="0E1033"/>
            </a:solidFill>
            <a:prstDash val="solid"/>
          </a:ln>
        </p:spPr>
      </p:sp>
      <p:sp>
        <p:nvSpPr>
          <p:cNvPr id="5" name="Text 3"/>
          <p:cNvSpPr/>
          <p:nvPr/>
        </p:nvSpPr>
        <p:spPr>
          <a:xfrm>
            <a:off x="812800" y="1981845"/>
            <a:ext cx="1983049" cy="2476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5B5E7D"/>
                </a:solidFill>
                <a:latin typeface="IBM Plex Sans" pitchFamily="34" charset="0"/>
                <a:ea typeface="IBM Plex Sans" pitchFamily="34" charset="-122"/>
                <a:cs typeface="IBM Plex Sans" pitchFamily="34" charset="-120"/>
              </a:rPr>
              <a:t>Current price</a:t>
            </a:r>
            <a:endParaRPr lang="en-US" sz="1250" dirty="0"/>
          </a:p>
        </p:txBody>
      </p:sp>
      <p:sp>
        <p:nvSpPr>
          <p:cNvPr id="6" name="Text 4"/>
          <p:cNvSpPr/>
          <p:nvPr/>
        </p:nvSpPr>
        <p:spPr>
          <a:xfrm>
            <a:off x="812800" y="2254895"/>
            <a:ext cx="1983049" cy="402580"/>
          </a:xfrm>
          <a:prstGeom prst="rect">
            <a:avLst/>
          </a:prstGeom>
          <a:noFill/>
          <a:ln/>
        </p:spPr>
        <p:txBody>
          <a:bodyPr wrap="square" lIns="0" tIns="0" rIns="0" bIns="0" rtlCol="0" anchor="t">
            <a:normAutofit/>
          </a:bodyPr>
          <a:lstStyle/>
          <a:p>
            <a:pPr algn="l" indent="0" marL="0">
              <a:lnSpc>
                <a:spcPts val="2970"/>
              </a:lnSpc>
              <a:buNone/>
            </a:pPr>
            <a:r>
              <a:rPr lang="en-US" sz="2700" b="1" dirty="0">
                <a:solidFill>
                  <a:srgbClr val="0E1033"/>
                </a:solidFill>
                <a:latin typeface="Rubik" pitchFamily="34" charset="0"/>
                <a:ea typeface="Rubik" pitchFamily="34" charset="-122"/>
                <a:cs typeface="Rubik" pitchFamily="34" charset="-120"/>
              </a:rPr>
              <a:t>$184.26</a:t>
            </a:r>
            <a:endParaRPr lang="en-US" sz="2700" dirty="0"/>
          </a:p>
        </p:txBody>
      </p:sp>
      <p:sp>
        <p:nvSpPr>
          <p:cNvPr id="7" name="Shape 5"/>
          <p:cNvSpPr/>
          <p:nvPr/>
        </p:nvSpPr>
        <p:spPr>
          <a:xfrm>
            <a:off x="2741265" y="1816745"/>
            <a:ext cx="0" cy="980430"/>
          </a:xfrm>
          <a:prstGeom prst="line">
            <a:avLst/>
          </a:prstGeom>
          <a:noFill/>
          <a:ln w="6350">
            <a:solidFill>
              <a:srgbClr val="D8DAE5"/>
            </a:solidFill>
            <a:prstDash val="solid"/>
          </a:ln>
        </p:spPr>
      </p:sp>
      <p:sp>
        <p:nvSpPr>
          <p:cNvPr id="8" name="Text 6"/>
          <p:cNvSpPr/>
          <p:nvPr/>
        </p:nvSpPr>
        <p:spPr>
          <a:xfrm>
            <a:off x="2973040" y="1981845"/>
            <a:ext cx="1983100" cy="2476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5B5E7D"/>
                </a:solidFill>
                <a:latin typeface="IBM Plex Sans" pitchFamily="34" charset="0"/>
                <a:ea typeface="IBM Plex Sans" pitchFamily="34" charset="-122"/>
                <a:cs typeface="IBM Plex Sans" pitchFamily="34" charset="-120"/>
              </a:rPr>
              <a:t>Target price</a:t>
            </a:r>
            <a:endParaRPr lang="en-US" sz="1250" dirty="0"/>
          </a:p>
        </p:txBody>
      </p:sp>
      <p:sp>
        <p:nvSpPr>
          <p:cNvPr id="9" name="Text 7"/>
          <p:cNvSpPr/>
          <p:nvPr/>
        </p:nvSpPr>
        <p:spPr>
          <a:xfrm>
            <a:off x="2973040" y="2254895"/>
            <a:ext cx="1983100" cy="402580"/>
          </a:xfrm>
          <a:prstGeom prst="rect">
            <a:avLst/>
          </a:prstGeom>
          <a:noFill/>
          <a:ln/>
        </p:spPr>
        <p:txBody>
          <a:bodyPr wrap="square" lIns="0" tIns="0" rIns="0" bIns="0" rtlCol="0" anchor="t">
            <a:normAutofit/>
          </a:bodyPr>
          <a:lstStyle/>
          <a:p>
            <a:pPr algn="l" indent="0" marL="0">
              <a:lnSpc>
                <a:spcPts val="2970"/>
              </a:lnSpc>
              <a:buNone/>
            </a:pPr>
            <a:r>
              <a:rPr lang="en-US" sz="2700" b="1" dirty="0">
                <a:solidFill>
                  <a:srgbClr val="0E1033"/>
                </a:solidFill>
                <a:latin typeface="Rubik" pitchFamily="34" charset="0"/>
                <a:ea typeface="Rubik" pitchFamily="34" charset="-122"/>
                <a:cs typeface="Rubik" pitchFamily="34" charset="-120"/>
              </a:rPr>
              <a:t>$213.00</a:t>
            </a:r>
            <a:endParaRPr lang="en-US" sz="2700" dirty="0"/>
          </a:p>
        </p:txBody>
      </p:sp>
      <p:sp>
        <p:nvSpPr>
          <p:cNvPr id="10" name="Shape 8"/>
          <p:cNvSpPr/>
          <p:nvPr/>
        </p:nvSpPr>
        <p:spPr>
          <a:xfrm>
            <a:off x="4901555" y="1816745"/>
            <a:ext cx="0" cy="980430"/>
          </a:xfrm>
          <a:prstGeom prst="line">
            <a:avLst/>
          </a:prstGeom>
          <a:noFill/>
          <a:ln w="6350">
            <a:solidFill>
              <a:srgbClr val="D8DAE5"/>
            </a:solidFill>
            <a:prstDash val="solid"/>
          </a:ln>
        </p:spPr>
      </p:sp>
      <p:sp>
        <p:nvSpPr>
          <p:cNvPr id="11" name="Text 9"/>
          <p:cNvSpPr/>
          <p:nvPr/>
        </p:nvSpPr>
        <p:spPr>
          <a:xfrm>
            <a:off x="5133330" y="1981845"/>
            <a:ext cx="1983049" cy="2476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5B5E7D"/>
                </a:solidFill>
                <a:latin typeface="IBM Plex Sans" pitchFamily="34" charset="0"/>
                <a:ea typeface="IBM Plex Sans" pitchFamily="34" charset="-122"/>
                <a:cs typeface="IBM Plex Sans" pitchFamily="34" charset="-120"/>
              </a:rPr>
              <a:t>Price upside</a:t>
            </a:r>
            <a:endParaRPr lang="en-US" sz="1250" dirty="0"/>
          </a:p>
        </p:txBody>
      </p:sp>
      <p:sp>
        <p:nvSpPr>
          <p:cNvPr id="12" name="Text 10"/>
          <p:cNvSpPr/>
          <p:nvPr/>
        </p:nvSpPr>
        <p:spPr>
          <a:xfrm>
            <a:off x="5133330" y="2254895"/>
            <a:ext cx="1983049" cy="402580"/>
          </a:xfrm>
          <a:prstGeom prst="rect">
            <a:avLst/>
          </a:prstGeom>
          <a:noFill/>
          <a:ln/>
        </p:spPr>
        <p:txBody>
          <a:bodyPr wrap="square" lIns="0" tIns="0" rIns="0" bIns="0" rtlCol="0" anchor="t">
            <a:normAutofit/>
          </a:bodyPr>
          <a:lstStyle/>
          <a:p>
            <a:pPr algn="l" indent="0" marL="0">
              <a:lnSpc>
                <a:spcPts val="2970"/>
              </a:lnSpc>
              <a:buNone/>
            </a:pPr>
            <a:r>
              <a:rPr lang="en-US" sz="2700" b="1" dirty="0">
                <a:solidFill>
                  <a:srgbClr val="0B7A55"/>
                </a:solidFill>
                <a:latin typeface="Rubik" pitchFamily="34" charset="0"/>
                <a:ea typeface="Rubik" pitchFamily="34" charset="-122"/>
                <a:cs typeface="Rubik" pitchFamily="34" charset="-120"/>
              </a:rPr>
              <a:t>+15.6%</a:t>
            </a:r>
            <a:endParaRPr lang="en-US" sz="2700" dirty="0"/>
          </a:p>
        </p:txBody>
      </p:sp>
      <p:sp>
        <p:nvSpPr>
          <p:cNvPr id="13" name="Shape 11"/>
          <p:cNvSpPr/>
          <p:nvPr/>
        </p:nvSpPr>
        <p:spPr>
          <a:xfrm>
            <a:off x="7061795" y="1816745"/>
            <a:ext cx="0" cy="980430"/>
          </a:xfrm>
          <a:prstGeom prst="line">
            <a:avLst/>
          </a:prstGeom>
          <a:noFill/>
          <a:ln w="6350">
            <a:solidFill>
              <a:srgbClr val="D8DAE5"/>
            </a:solidFill>
            <a:prstDash val="solid"/>
          </a:ln>
        </p:spPr>
      </p:sp>
      <p:sp>
        <p:nvSpPr>
          <p:cNvPr id="14" name="Text 12"/>
          <p:cNvSpPr/>
          <p:nvPr/>
        </p:nvSpPr>
        <p:spPr>
          <a:xfrm>
            <a:off x="7293570" y="1981845"/>
            <a:ext cx="1983100" cy="2476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5B5E7D"/>
                </a:solidFill>
                <a:latin typeface="IBM Plex Sans" pitchFamily="34" charset="0"/>
                <a:ea typeface="IBM Plex Sans" pitchFamily="34" charset="-122"/>
                <a:cs typeface="IBM Plex Sans" pitchFamily="34" charset="-120"/>
              </a:rPr>
              <a:t>Dividend yield</a:t>
            </a:r>
            <a:endParaRPr lang="en-US" sz="1250" dirty="0"/>
          </a:p>
        </p:txBody>
      </p:sp>
      <p:sp>
        <p:nvSpPr>
          <p:cNvPr id="15" name="Text 13"/>
          <p:cNvSpPr/>
          <p:nvPr/>
        </p:nvSpPr>
        <p:spPr>
          <a:xfrm>
            <a:off x="7293570" y="2254895"/>
            <a:ext cx="1983100" cy="402580"/>
          </a:xfrm>
          <a:prstGeom prst="rect">
            <a:avLst/>
          </a:prstGeom>
          <a:noFill/>
          <a:ln/>
        </p:spPr>
        <p:txBody>
          <a:bodyPr wrap="square" lIns="0" tIns="0" rIns="0" bIns="0" rtlCol="0" anchor="t">
            <a:normAutofit/>
          </a:bodyPr>
          <a:lstStyle/>
          <a:p>
            <a:pPr algn="l" indent="0" marL="0">
              <a:lnSpc>
                <a:spcPts val="2970"/>
              </a:lnSpc>
              <a:buNone/>
            </a:pPr>
            <a:r>
              <a:rPr lang="en-US" sz="2700" b="1" dirty="0">
                <a:solidFill>
                  <a:srgbClr val="0E1033"/>
                </a:solidFill>
                <a:latin typeface="Rubik" pitchFamily="34" charset="0"/>
                <a:ea typeface="Rubik" pitchFamily="34" charset="-122"/>
                <a:cs typeface="Rubik" pitchFamily="34" charset="-120"/>
              </a:rPr>
              <a:t>2.65%</a:t>
            </a:r>
            <a:endParaRPr lang="en-US" sz="2700" dirty="0"/>
          </a:p>
        </p:txBody>
      </p:sp>
      <p:sp>
        <p:nvSpPr>
          <p:cNvPr id="16" name="Shape 14"/>
          <p:cNvSpPr/>
          <p:nvPr/>
        </p:nvSpPr>
        <p:spPr>
          <a:xfrm>
            <a:off x="9222085" y="1816745"/>
            <a:ext cx="0" cy="980430"/>
          </a:xfrm>
          <a:prstGeom prst="line">
            <a:avLst/>
          </a:prstGeom>
          <a:noFill/>
          <a:ln w="6350">
            <a:solidFill>
              <a:srgbClr val="D8DAE5"/>
            </a:solidFill>
            <a:prstDash val="solid"/>
          </a:ln>
        </p:spPr>
      </p:sp>
      <p:sp>
        <p:nvSpPr>
          <p:cNvPr id="17" name="Text 15"/>
          <p:cNvSpPr/>
          <p:nvPr/>
        </p:nvSpPr>
        <p:spPr>
          <a:xfrm>
            <a:off x="9453860" y="1981845"/>
            <a:ext cx="1983100" cy="2476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5B5E7D"/>
                </a:solidFill>
                <a:latin typeface="IBM Plex Sans" pitchFamily="34" charset="0"/>
                <a:ea typeface="IBM Plex Sans" pitchFamily="34" charset="-122"/>
                <a:cs typeface="IBM Plex Sans" pitchFamily="34" charset="-120"/>
              </a:rPr>
              <a:t>Total return</a:t>
            </a:r>
            <a:endParaRPr lang="en-US" sz="1250" dirty="0"/>
          </a:p>
        </p:txBody>
      </p:sp>
      <p:sp>
        <p:nvSpPr>
          <p:cNvPr id="18" name="Text 16"/>
          <p:cNvSpPr/>
          <p:nvPr/>
        </p:nvSpPr>
        <p:spPr>
          <a:xfrm>
            <a:off x="9453860" y="2254895"/>
            <a:ext cx="1983100" cy="402580"/>
          </a:xfrm>
          <a:prstGeom prst="rect">
            <a:avLst/>
          </a:prstGeom>
          <a:noFill/>
          <a:ln/>
        </p:spPr>
        <p:txBody>
          <a:bodyPr wrap="square" lIns="0" tIns="0" rIns="0" bIns="0" rtlCol="0" anchor="t">
            <a:normAutofit/>
          </a:bodyPr>
          <a:lstStyle/>
          <a:p>
            <a:pPr algn="l" indent="0" marL="0">
              <a:lnSpc>
                <a:spcPts val="2970"/>
              </a:lnSpc>
              <a:buNone/>
            </a:pPr>
            <a:r>
              <a:rPr lang="en-US" sz="2700" b="1" dirty="0">
                <a:solidFill>
                  <a:srgbClr val="0B7A55"/>
                </a:solidFill>
                <a:latin typeface="Rubik" pitchFamily="34" charset="0"/>
                <a:ea typeface="Rubik" pitchFamily="34" charset="-122"/>
                <a:cs typeface="Rubik" pitchFamily="34" charset="-120"/>
              </a:rPr>
              <a:t>+18.3%</a:t>
            </a:r>
            <a:endParaRPr lang="en-US" sz="2700" dirty="0"/>
          </a:p>
        </p:txBody>
      </p:sp>
      <p:sp>
        <p:nvSpPr>
          <p:cNvPr id="19" name="Text 17"/>
          <p:cNvSpPr/>
          <p:nvPr/>
        </p:nvSpPr>
        <p:spPr>
          <a:xfrm>
            <a:off x="812800" y="3026420"/>
            <a:ext cx="304800"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3A2BE0"/>
                </a:solidFill>
                <a:latin typeface="Rubik" pitchFamily="34" charset="0"/>
                <a:ea typeface="Rubik" pitchFamily="34" charset="-122"/>
                <a:cs typeface="Rubik" pitchFamily="34" charset="-120"/>
              </a:rPr>
              <a:t>1</a:t>
            </a:r>
            <a:endParaRPr lang="en-US" sz="1700" dirty="0"/>
          </a:p>
        </p:txBody>
      </p:sp>
      <p:sp>
        <p:nvSpPr>
          <p:cNvPr id="20" name="Text 18"/>
          <p:cNvSpPr/>
          <p:nvPr/>
        </p:nvSpPr>
        <p:spPr>
          <a:xfrm>
            <a:off x="1206500" y="3042295"/>
            <a:ext cx="10072370" cy="576560"/>
          </a:xfrm>
          <a:prstGeom prst="rect">
            <a:avLst/>
          </a:prstGeom>
          <a:noFill/>
          <a:ln/>
        </p:spPr>
        <p:txBody>
          <a:bodyPr wrap="square" lIns="0" tIns="0" rIns="0" bIns="0" rtlCol="0" anchor="t">
            <a:normAutofit/>
          </a:bodyPr>
          <a:lstStyle/>
          <a:p>
            <a:pPr algn="l" indent="0" marL="0">
              <a:lnSpc>
                <a:spcPts val="2170"/>
              </a:lnSpc>
              <a:buNone/>
            </a:pPr>
            <a:r>
              <a:rPr lang="en-US" sz="1550" b="1" dirty="0">
                <a:solidFill>
                  <a:srgbClr val="0E1033"/>
                </a:solidFill>
                <a:latin typeface="IBM Plex Sans" pitchFamily="34" charset="0"/>
                <a:ea typeface="IBM Plex Sans" pitchFamily="34" charset="-122"/>
                <a:cs typeface="IBM Plex Sans" pitchFamily="34" charset="-120"/>
              </a:rPr>
              <a:t>Power, not demand, is the scarce input.</a:t>
            </a:r>
            <a:r>
              <a:rPr lang="en-US" sz="1550" dirty="0">
                <a:solidFill>
                  <a:srgbClr val="0E1033"/>
                </a:solidFill>
                <a:latin typeface="IBM Plex Sans" pitchFamily="34" charset="0"/>
                <a:ea typeface="IBM Plex Sans" pitchFamily="34" charset="-122"/>
                <a:cs typeface="IBM Plex Sans" pitchFamily="34" charset="-120"/>
              </a:rPr>
              <a:t> DLR has 1,402 MW under construction and over 7 GW of further land and shell with grid access behind it.</a:t>
            </a:r>
            <a:endParaRPr lang="en-US" sz="1550" dirty="0"/>
          </a:p>
        </p:txBody>
      </p:sp>
      <p:sp>
        <p:nvSpPr>
          <p:cNvPr id="21" name="Text 19"/>
          <p:cNvSpPr/>
          <p:nvPr/>
        </p:nvSpPr>
        <p:spPr>
          <a:xfrm>
            <a:off x="812800" y="3720455"/>
            <a:ext cx="304800"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3A2BE0"/>
                </a:solidFill>
                <a:latin typeface="Rubik" pitchFamily="34" charset="0"/>
                <a:ea typeface="Rubik" pitchFamily="34" charset="-122"/>
                <a:cs typeface="Rubik" pitchFamily="34" charset="-120"/>
              </a:rPr>
              <a:t>2</a:t>
            </a:r>
            <a:endParaRPr lang="en-US" sz="1700" dirty="0"/>
          </a:p>
        </p:txBody>
      </p:sp>
      <p:sp>
        <p:nvSpPr>
          <p:cNvPr id="22" name="Text 20"/>
          <p:cNvSpPr/>
          <p:nvPr/>
        </p:nvSpPr>
        <p:spPr>
          <a:xfrm>
            <a:off x="1206500" y="3736330"/>
            <a:ext cx="10072370" cy="576560"/>
          </a:xfrm>
          <a:prstGeom prst="rect">
            <a:avLst/>
          </a:prstGeom>
          <a:noFill/>
          <a:ln/>
        </p:spPr>
        <p:txBody>
          <a:bodyPr wrap="square" lIns="0" tIns="0" rIns="0" bIns="0" rtlCol="0" anchor="t">
            <a:normAutofit/>
          </a:bodyPr>
          <a:lstStyle/>
          <a:p>
            <a:pPr algn="l" indent="0" marL="0">
              <a:lnSpc>
                <a:spcPts val="2170"/>
              </a:lnSpc>
              <a:buNone/>
            </a:pPr>
            <a:r>
              <a:rPr lang="en-US" sz="1550" b="1" dirty="0">
                <a:solidFill>
                  <a:srgbClr val="0E1033"/>
                </a:solidFill>
                <a:latin typeface="IBM Plex Sans" pitchFamily="34" charset="0"/>
                <a:ea typeface="IBM Plex Sans" pitchFamily="34" charset="-122"/>
                <a:cs typeface="IBM Plex Sans" pitchFamily="34" charset="-120"/>
              </a:rPr>
              <a:t>Rents on existing leases are resetting higher.</a:t>
            </a:r>
            <a:r>
              <a:rPr lang="en-US" sz="1550" dirty="0">
                <a:solidFill>
                  <a:srgbClr val="0E1033"/>
                </a:solidFill>
                <a:latin typeface="IBM Plex Sans" pitchFamily="34" charset="0"/>
                <a:ea typeface="IBM Plex Sans" pitchFamily="34" charset="-122"/>
                <a:cs typeface="IBM Plex Sans" pitchFamily="34" charset="-120"/>
              </a:rPr>
              <a:t> Renewals repriced 25.6% higher in Q2 and full year guidance was lifted to 9% to 11%.</a:t>
            </a:r>
            <a:endParaRPr lang="en-US" sz="1550" dirty="0"/>
          </a:p>
        </p:txBody>
      </p:sp>
      <p:sp>
        <p:nvSpPr>
          <p:cNvPr id="23" name="Text 21"/>
          <p:cNvSpPr/>
          <p:nvPr/>
        </p:nvSpPr>
        <p:spPr>
          <a:xfrm>
            <a:off x="812800" y="4414490"/>
            <a:ext cx="304800"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3A2BE0"/>
                </a:solidFill>
                <a:latin typeface="Rubik" pitchFamily="34" charset="0"/>
                <a:ea typeface="Rubik" pitchFamily="34" charset="-122"/>
                <a:cs typeface="Rubik" pitchFamily="34" charset="-120"/>
              </a:rPr>
              <a:t>3</a:t>
            </a:r>
            <a:endParaRPr lang="en-US" sz="1700" dirty="0"/>
          </a:p>
        </p:txBody>
      </p:sp>
      <p:sp>
        <p:nvSpPr>
          <p:cNvPr id="24" name="Text 22"/>
          <p:cNvSpPr/>
          <p:nvPr/>
        </p:nvSpPr>
        <p:spPr>
          <a:xfrm>
            <a:off x="1206500" y="4430365"/>
            <a:ext cx="10072370" cy="576560"/>
          </a:xfrm>
          <a:prstGeom prst="rect">
            <a:avLst/>
          </a:prstGeom>
          <a:noFill/>
          <a:ln/>
        </p:spPr>
        <p:txBody>
          <a:bodyPr wrap="square" lIns="0" tIns="0" rIns="0" bIns="0" rtlCol="0" anchor="t">
            <a:normAutofit/>
          </a:bodyPr>
          <a:lstStyle/>
          <a:p>
            <a:pPr algn="l" indent="0" marL="0">
              <a:lnSpc>
                <a:spcPts val="2170"/>
              </a:lnSpc>
              <a:buNone/>
            </a:pPr>
            <a:r>
              <a:rPr lang="en-US" sz="1550" b="1" dirty="0">
                <a:solidFill>
                  <a:srgbClr val="0E1033"/>
                </a:solidFill>
                <a:latin typeface="IBM Plex Sans" pitchFamily="34" charset="0"/>
                <a:ea typeface="IBM Plex Sans" pitchFamily="34" charset="-122"/>
                <a:cs typeface="IBM Plex Sans" pitchFamily="34" charset="-120"/>
              </a:rPr>
              <a:t>Guidance rose at both reports this year, yet the stock sits below its April level.</a:t>
            </a:r>
            <a:r>
              <a:rPr lang="en-US" sz="1550" dirty="0">
                <a:solidFill>
                  <a:srgbClr val="0E1033"/>
                </a:solidFill>
                <a:latin typeface="IBM Plex Sans" pitchFamily="34" charset="0"/>
                <a:ea typeface="IBM Plex Sans" pitchFamily="34" charset="-122"/>
                <a:cs typeface="IBM Plex Sans" pitchFamily="34" charset="-120"/>
              </a:rPr>
              <a:t> The multiple compressed from 23.7x to 22.5x on rising estimates.</a:t>
            </a:r>
            <a:endParaRPr lang="en-US" sz="1550" dirty="0"/>
          </a:p>
        </p:txBody>
      </p:sp>
      <p:sp>
        <p:nvSpPr>
          <p:cNvPr id="25" name="Shape 23"/>
          <p:cNvSpPr/>
          <p:nvPr/>
        </p:nvSpPr>
        <p:spPr>
          <a:xfrm>
            <a:off x="812800" y="5210820"/>
            <a:ext cx="10566400" cy="631180"/>
          </a:xfrm>
          <a:prstGeom prst="rect">
            <a:avLst/>
          </a:prstGeom>
          <a:solidFill>
            <a:srgbClr val="F4F5F9"/>
          </a:solidFill>
          <a:ln/>
        </p:spPr>
      </p:sp>
      <p:sp>
        <p:nvSpPr>
          <p:cNvPr id="26" name="Shape 24"/>
          <p:cNvSpPr/>
          <p:nvPr/>
        </p:nvSpPr>
        <p:spPr>
          <a:xfrm>
            <a:off x="825500" y="5210820"/>
            <a:ext cx="0" cy="631180"/>
          </a:xfrm>
          <a:prstGeom prst="line">
            <a:avLst/>
          </a:prstGeom>
          <a:noFill/>
          <a:ln w="25400">
            <a:solidFill>
              <a:srgbClr val="3A2BE0"/>
            </a:solidFill>
            <a:prstDash val="solid"/>
          </a:ln>
        </p:spPr>
      </p:sp>
      <p:sp>
        <p:nvSpPr>
          <p:cNvPr id="27" name="Text 25"/>
          <p:cNvSpPr/>
          <p:nvPr/>
        </p:nvSpPr>
        <p:spPr>
          <a:xfrm>
            <a:off x="1066800" y="5406380"/>
            <a:ext cx="1811208" cy="265410"/>
          </a:xfrm>
          <a:prstGeom prst="rect">
            <a:avLst/>
          </a:prstGeom>
          <a:noFill/>
          <a:ln/>
        </p:spPr>
        <p:txBody>
          <a:bodyPr wrap="square" lIns="0" tIns="0" rIns="0" bIns="0" rtlCol="0" anchor="t">
            <a:normAutofit/>
          </a:bodyPr>
          <a:lstStyle/>
          <a:p>
            <a:pPr algn="l" indent="0" marL="0">
              <a:lnSpc>
                <a:spcPts val="1890"/>
              </a:lnSpc>
              <a:buNone/>
            </a:pPr>
            <a:r>
              <a:rPr lang="en-US" sz="1350" b="1" spc="100" kern="0" dirty="0">
                <a:solidFill>
                  <a:srgbClr val="5B5E7D"/>
                </a:solidFill>
                <a:latin typeface="IBM Plex Sans" pitchFamily="34" charset="0"/>
                <a:ea typeface="IBM Plex Sans" pitchFamily="34" charset="-122"/>
                <a:cs typeface="IBM Plex Sans" pitchFamily="34" charset="-120"/>
              </a:rPr>
              <a:t>RISK AND REWARD</a:t>
            </a:r>
            <a:endParaRPr lang="en-US" sz="1350" dirty="0"/>
          </a:p>
        </p:txBody>
      </p:sp>
      <p:sp>
        <p:nvSpPr>
          <p:cNvPr id="28" name="Text 26"/>
          <p:cNvSpPr/>
          <p:nvPr/>
        </p:nvSpPr>
        <p:spPr>
          <a:xfrm>
            <a:off x="3180854" y="5388620"/>
            <a:ext cx="1581001" cy="300980"/>
          </a:xfrm>
          <a:prstGeom prst="rect">
            <a:avLst/>
          </a:prstGeom>
          <a:noFill/>
          <a:ln/>
        </p:spPr>
        <p:txBody>
          <a:bodyPr wrap="square" lIns="0" tIns="0" rIns="0" bIns="0" rtlCol="0" anchor="t">
            <a:normAutofit/>
          </a:bodyPr>
          <a:lstStyle/>
          <a:p>
            <a:pPr algn="l" indent="0" marL="0">
              <a:lnSpc>
                <a:spcPts val="2170"/>
              </a:lnSpc>
              <a:buNone/>
            </a:pPr>
            <a:r>
              <a:rPr lang="en-US" sz="1550" dirty="0">
                <a:solidFill>
                  <a:srgbClr val="0E1033"/>
                </a:solidFill>
                <a:latin typeface="IBM Plex Sans" pitchFamily="34" charset="0"/>
                <a:ea typeface="IBM Plex Sans" pitchFamily="34" charset="-122"/>
                <a:cs typeface="IBM Plex Sans" pitchFamily="34" charset="-120"/>
              </a:rPr>
              <a:t>Bear </a:t>
            </a:r>
            <a:r>
              <a:rPr lang="en-US" sz="1550" b="1" dirty="0">
                <a:solidFill>
                  <a:srgbClr val="0E1033"/>
                </a:solidFill>
                <a:latin typeface="IBM Plex Sans" pitchFamily="34" charset="0"/>
                <a:ea typeface="IBM Plex Sans" pitchFamily="34" charset="-122"/>
                <a:cs typeface="IBM Plex Sans" pitchFamily="34" charset="-120"/>
              </a:rPr>
              <a:t>$163</a:t>
            </a:r>
            <a:r>
              <a:rPr lang="en-US" sz="1550" dirty="0">
                <a:solidFill>
                  <a:srgbClr val="0E1033"/>
                </a:solidFill>
                <a:latin typeface="IBM Plex Sans" pitchFamily="34" charset="0"/>
                <a:ea typeface="IBM Plex Sans" pitchFamily="34" charset="-122"/>
                <a:cs typeface="IBM Plex Sans" pitchFamily="34" charset="-120"/>
              </a:rPr>
              <a:t>, -12%</a:t>
            </a:r>
            <a:endParaRPr lang="en-US" sz="1550" dirty="0"/>
          </a:p>
        </p:txBody>
      </p:sp>
      <p:sp>
        <p:nvSpPr>
          <p:cNvPr id="29" name="Text 27"/>
          <p:cNvSpPr/>
          <p:nvPr/>
        </p:nvSpPr>
        <p:spPr>
          <a:xfrm>
            <a:off x="5066655" y="5388620"/>
            <a:ext cx="1644204" cy="300980"/>
          </a:xfrm>
          <a:prstGeom prst="rect">
            <a:avLst/>
          </a:prstGeom>
          <a:noFill/>
          <a:ln/>
        </p:spPr>
        <p:txBody>
          <a:bodyPr wrap="square" lIns="0" tIns="0" rIns="0" bIns="0" rtlCol="0" anchor="t">
            <a:normAutofit/>
          </a:bodyPr>
          <a:lstStyle/>
          <a:p>
            <a:pPr algn="l" indent="0" marL="0">
              <a:lnSpc>
                <a:spcPts val="2170"/>
              </a:lnSpc>
              <a:buNone/>
            </a:pPr>
            <a:r>
              <a:rPr lang="en-US" sz="1550" dirty="0">
                <a:solidFill>
                  <a:srgbClr val="0E1033"/>
                </a:solidFill>
                <a:latin typeface="IBM Plex Sans" pitchFamily="34" charset="0"/>
                <a:ea typeface="IBM Plex Sans" pitchFamily="34" charset="-122"/>
                <a:cs typeface="IBM Plex Sans" pitchFamily="34" charset="-120"/>
              </a:rPr>
              <a:t>Base </a:t>
            </a:r>
            <a:r>
              <a:rPr lang="en-US" sz="1550" b="1" dirty="0">
                <a:solidFill>
                  <a:srgbClr val="0E1033"/>
                </a:solidFill>
                <a:latin typeface="IBM Plex Sans" pitchFamily="34" charset="0"/>
                <a:ea typeface="IBM Plex Sans" pitchFamily="34" charset="-122"/>
                <a:cs typeface="IBM Plex Sans" pitchFamily="34" charset="-120"/>
              </a:rPr>
              <a:t>$221</a:t>
            </a:r>
            <a:r>
              <a:rPr lang="en-US" sz="1550" dirty="0">
                <a:solidFill>
                  <a:srgbClr val="0E1033"/>
                </a:solidFill>
                <a:latin typeface="IBM Plex Sans" pitchFamily="34" charset="0"/>
                <a:ea typeface="IBM Plex Sans" pitchFamily="34" charset="-122"/>
                <a:cs typeface="IBM Plex Sans" pitchFamily="34" charset="-120"/>
              </a:rPr>
              <a:t>, +20%</a:t>
            </a:r>
            <a:endParaRPr lang="en-US" sz="1550" dirty="0"/>
          </a:p>
        </p:txBody>
      </p:sp>
      <p:sp>
        <p:nvSpPr>
          <p:cNvPr id="30" name="Text 28"/>
          <p:cNvSpPr/>
          <p:nvPr/>
        </p:nvSpPr>
        <p:spPr>
          <a:xfrm>
            <a:off x="7015659" y="5388620"/>
            <a:ext cx="1553071" cy="300980"/>
          </a:xfrm>
          <a:prstGeom prst="rect">
            <a:avLst/>
          </a:prstGeom>
          <a:noFill/>
          <a:ln/>
        </p:spPr>
        <p:txBody>
          <a:bodyPr wrap="square" lIns="0" tIns="0" rIns="0" bIns="0" rtlCol="0" anchor="t">
            <a:normAutofit/>
          </a:bodyPr>
          <a:lstStyle/>
          <a:p>
            <a:pPr algn="l" indent="0" marL="0">
              <a:lnSpc>
                <a:spcPts val="2170"/>
              </a:lnSpc>
              <a:buNone/>
            </a:pPr>
            <a:r>
              <a:rPr lang="en-US" sz="1550" dirty="0">
                <a:solidFill>
                  <a:srgbClr val="0E1033"/>
                </a:solidFill>
                <a:latin typeface="IBM Plex Sans" pitchFamily="34" charset="0"/>
                <a:ea typeface="IBM Plex Sans" pitchFamily="34" charset="-122"/>
                <a:cs typeface="IBM Plex Sans" pitchFamily="34" charset="-120"/>
              </a:rPr>
              <a:t>Bull </a:t>
            </a:r>
            <a:r>
              <a:rPr lang="en-US" sz="1550" b="1" dirty="0">
                <a:solidFill>
                  <a:srgbClr val="0E1033"/>
                </a:solidFill>
                <a:latin typeface="IBM Plex Sans" pitchFamily="34" charset="0"/>
                <a:ea typeface="IBM Plex Sans" pitchFamily="34" charset="-122"/>
                <a:cs typeface="IBM Plex Sans" pitchFamily="34" charset="-120"/>
              </a:rPr>
              <a:t>$263</a:t>
            </a:r>
            <a:r>
              <a:rPr lang="en-US" sz="1550" dirty="0">
                <a:solidFill>
                  <a:srgbClr val="0E1033"/>
                </a:solidFill>
                <a:latin typeface="IBM Plex Sans" pitchFamily="34" charset="0"/>
                <a:ea typeface="IBM Plex Sans" pitchFamily="34" charset="-122"/>
                <a:cs typeface="IBM Plex Sans" pitchFamily="34" charset="-120"/>
              </a:rPr>
              <a:t>, +43%</a:t>
            </a:r>
            <a:endParaRPr lang="en-US" sz="1550" dirty="0"/>
          </a:p>
        </p:txBody>
      </p:sp>
      <p:sp>
        <p:nvSpPr>
          <p:cNvPr id="31" name="Text 29"/>
          <p:cNvSpPr/>
          <p:nvPr/>
        </p:nvSpPr>
        <p:spPr>
          <a:xfrm>
            <a:off x="8873530" y="5388620"/>
            <a:ext cx="1765680" cy="300980"/>
          </a:xfrm>
          <a:prstGeom prst="rect">
            <a:avLst/>
          </a:prstGeom>
          <a:noFill/>
          <a:ln/>
        </p:spPr>
        <p:txBody>
          <a:bodyPr wrap="square" lIns="0" tIns="0" rIns="0" bIns="0" rtlCol="0" anchor="t">
            <a:normAutofit/>
          </a:bodyPr>
          <a:lstStyle/>
          <a:p>
            <a:pPr algn="l" indent="0" marL="0">
              <a:lnSpc>
                <a:spcPts val="2170"/>
              </a:lnSpc>
              <a:buNone/>
            </a:pPr>
            <a:r>
              <a:rPr lang="en-US" sz="1550" b="1" dirty="0">
                <a:solidFill>
                  <a:srgbClr val="0B7A55"/>
                </a:solidFill>
                <a:latin typeface="IBM Plex Sans" pitchFamily="34" charset="0"/>
                <a:ea typeface="IBM Plex Sans" pitchFamily="34" charset="-122"/>
                <a:cs typeface="IBM Plex Sans" pitchFamily="34" charset="-120"/>
              </a:rPr>
              <a:t>3.6x reward to risk</a:t>
            </a:r>
            <a:endParaRPr lang="en-US" sz="1550" dirty="0"/>
          </a:p>
        </p:txBody>
      </p:sp>
      <p:sp>
        <p:nvSpPr>
          <p:cNvPr id="32" name="Text 30"/>
          <p:cNvSpPr/>
          <p:nvPr/>
        </p:nvSpPr>
        <p:spPr>
          <a:xfrm>
            <a:off x="812800" y="6238280"/>
            <a:ext cx="586841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C8099"/>
                </a:solidFill>
                <a:latin typeface="IBM Plex Sans" pitchFamily="34" charset="0"/>
                <a:ea typeface="IBM Plex Sans" pitchFamily="34" charset="-122"/>
                <a:cs typeface="IBM Plex Sans" pitchFamily="34" charset="-120"/>
              </a:rPr>
              <a:t>Source: company filings, market pricing as of 18 September 2026, author estimates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28054"/>
          </a:xfrm>
          <a:prstGeom prst="rect">
            <a:avLst/>
          </a:prstGeom>
          <a:noFill/>
          <a:ln/>
        </p:spPr>
        <p:txBody>
          <a:bodyPr wrap="square" lIns="0" tIns="0" rIns="0" bIns="0" rtlCol="0" anchor="t">
            <a:normAutofit/>
          </a:bodyPr>
          <a:lstStyle/>
          <a:p>
            <a:pPr algn="l" indent="0" marL="0">
              <a:lnSpc>
                <a:spcPts val="1622"/>
              </a:lnSpc>
              <a:buNone/>
            </a:pPr>
            <a:r>
              <a:rPr lang="en-US" sz="1159" b="1" spc="150" kern="0" dirty="0">
                <a:solidFill>
                  <a:srgbClr val="3A2BE0"/>
                </a:solidFill>
                <a:latin typeface="IBM Plex Sans" pitchFamily="34" charset="0"/>
                <a:ea typeface="IBM Plex Sans" pitchFamily="34" charset="-122"/>
                <a:cs typeface="IBM Plex Sans" pitchFamily="34" charset="-120"/>
              </a:rPr>
              <a:t>PILLAR ONE</a:t>
            </a:r>
            <a:endParaRPr lang="en-US" sz="1159" dirty="0"/>
          </a:p>
        </p:txBody>
      </p:sp>
      <p:sp>
        <p:nvSpPr>
          <p:cNvPr id="3" name="Text 1"/>
          <p:cNvSpPr/>
          <p:nvPr/>
        </p:nvSpPr>
        <p:spPr>
          <a:xfrm>
            <a:off x="812800" y="1117054"/>
            <a:ext cx="10883392" cy="450007"/>
          </a:xfrm>
          <a:prstGeom prst="rect">
            <a:avLst/>
          </a:prstGeom>
          <a:noFill/>
          <a:ln/>
        </p:spPr>
        <p:txBody>
          <a:bodyPr wrap="square" lIns="0" tIns="0" rIns="0" bIns="0" rtlCol="0" anchor="t">
            <a:normAutofit/>
          </a:bodyPr>
          <a:lstStyle/>
          <a:p>
            <a:pPr algn="l" indent="0" marL="0">
              <a:lnSpc>
                <a:spcPts val="3366"/>
              </a:lnSpc>
              <a:buNone/>
            </a:pPr>
            <a:r>
              <a:rPr lang="en-US" sz="3060" b="1" dirty="0">
                <a:solidFill>
                  <a:srgbClr val="0E1033"/>
                </a:solidFill>
                <a:latin typeface="Rubik" pitchFamily="34" charset="0"/>
                <a:ea typeface="Rubik" pitchFamily="34" charset="-122"/>
                <a:cs typeface="Rubik" pitchFamily="34" charset="-120"/>
              </a:rPr>
              <a:t>Power is the bottleneck, not demand</a:t>
            </a:r>
            <a:endParaRPr lang="en-US" sz="3060" dirty="0"/>
          </a:p>
        </p:txBody>
      </p:sp>
      <p:sp>
        <p:nvSpPr>
          <p:cNvPr id="4" name="Text 2"/>
          <p:cNvSpPr/>
          <p:nvPr/>
        </p:nvSpPr>
        <p:spPr>
          <a:xfrm>
            <a:off x="812800" y="1643261"/>
            <a:ext cx="9287510" cy="550168"/>
          </a:xfrm>
          <a:prstGeom prst="rect">
            <a:avLst/>
          </a:prstGeom>
          <a:noFill/>
          <a:ln/>
        </p:spPr>
        <p:txBody>
          <a:bodyPr wrap="square" lIns="0" tIns="0" rIns="0" bIns="0" rtlCol="0" anchor="t">
            <a:normAutofit/>
          </a:bodyPr>
          <a:lstStyle/>
          <a:p>
            <a:pPr algn="l" indent="0" marL="0">
              <a:lnSpc>
                <a:spcPts val="2087"/>
              </a:lnSpc>
              <a:buNone/>
            </a:pPr>
            <a:r>
              <a:rPr lang="en-US" sz="1439" dirty="0">
                <a:solidFill>
                  <a:srgbClr val="5B5E7D"/>
                </a:solidFill>
                <a:latin typeface="IBM Plex Sans" pitchFamily="34" charset="0"/>
                <a:ea typeface="IBM Plex Sans" pitchFamily="34" charset="-122"/>
                <a:cs typeface="IBM Plex Sans" pitchFamily="34" charset="-120"/>
              </a:rPr>
              <a:t>Everyone can see AI demand. Very few operators can deliver capacity, because that needs land, a grid connection and years of permitting. DLR spent the last decade acquiring all three.</a:t>
            </a:r>
            <a:endParaRPr lang="en-US" sz="1439" dirty="0"/>
          </a:p>
        </p:txBody>
      </p:sp>
      <p:sp>
        <p:nvSpPr>
          <p:cNvPr id="5" name="Shape 3"/>
          <p:cNvSpPr/>
          <p:nvPr/>
        </p:nvSpPr>
        <p:spPr>
          <a:xfrm>
            <a:off x="812800" y="2174379"/>
            <a:ext cx="10566400" cy="0"/>
          </a:xfrm>
          <a:prstGeom prst="line">
            <a:avLst/>
          </a:prstGeom>
          <a:noFill/>
          <a:ln w="12700">
            <a:solidFill>
              <a:srgbClr val="0E1033"/>
            </a:solidFill>
            <a:prstDash val="solid"/>
          </a:ln>
        </p:spPr>
      </p:sp>
      <p:sp>
        <p:nvSpPr>
          <p:cNvPr id="6" name="Text 4"/>
          <p:cNvSpPr/>
          <p:nvPr/>
        </p:nvSpPr>
        <p:spPr>
          <a:xfrm>
            <a:off x="812800" y="2345829"/>
            <a:ext cx="2539349" cy="232073"/>
          </a:xfrm>
          <a:prstGeom prst="rect">
            <a:avLst/>
          </a:prstGeom>
          <a:noFill/>
          <a:ln/>
        </p:spPr>
        <p:txBody>
          <a:bodyPr wrap="square" lIns="0" tIns="0" rIns="0" bIns="0" rtlCol="0" anchor="t">
            <a:normAutofit/>
          </a:bodyPr>
          <a:lstStyle/>
          <a:p>
            <a:pPr algn="l" indent="0" marL="0">
              <a:lnSpc>
                <a:spcPts val="1673"/>
              </a:lnSpc>
              <a:buNone/>
            </a:pPr>
            <a:r>
              <a:rPr lang="en-US" sz="1195" dirty="0">
                <a:solidFill>
                  <a:srgbClr val="5B5E7D"/>
                </a:solidFill>
                <a:latin typeface="IBM Plex Sans" pitchFamily="34" charset="0"/>
                <a:ea typeface="IBM Plex Sans" pitchFamily="34" charset="-122"/>
                <a:cs typeface="IBM Plex Sans" pitchFamily="34" charset="-120"/>
              </a:rPr>
              <a:t>Under construction</a:t>
            </a:r>
            <a:endParaRPr lang="en-US" sz="1195" dirty="0"/>
          </a:p>
        </p:txBody>
      </p:sp>
      <p:sp>
        <p:nvSpPr>
          <p:cNvPr id="7" name="Text 5"/>
          <p:cNvSpPr/>
          <p:nvPr/>
        </p:nvSpPr>
        <p:spPr>
          <a:xfrm>
            <a:off x="812800" y="2603302"/>
            <a:ext cx="2539349" cy="376039"/>
          </a:xfrm>
          <a:prstGeom prst="rect">
            <a:avLst/>
          </a:prstGeom>
          <a:noFill/>
          <a:ln/>
        </p:spPr>
        <p:txBody>
          <a:bodyPr wrap="square" lIns="0" tIns="0" rIns="0" bIns="0" rtlCol="0" anchor="t">
            <a:normAutofit/>
          </a:bodyPr>
          <a:lstStyle/>
          <a:p>
            <a:pPr algn="l" indent="0" marL="0">
              <a:lnSpc>
                <a:spcPts val="2775"/>
              </a:lnSpc>
              <a:buNone/>
            </a:pPr>
            <a:r>
              <a:rPr lang="en-US" sz="2523" b="1" dirty="0">
                <a:solidFill>
                  <a:srgbClr val="0E1033"/>
                </a:solidFill>
                <a:latin typeface="Rubik" pitchFamily="34" charset="0"/>
                <a:ea typeface="Rubik" pitchFamily="34" charset="-122"/>
                <a:cs typeface="Rubik" pitchFamily="34" charset="-120"/>
              </a:rPr>
              <a:t>1,402 MW</a:t>
            </a:r>
            <a:endParaRPr lang="en-US" sz="2523" dirty="0"/>
          </a:p>
        </p:txBody>
      </p:sp>
      <p:sp>
        <p:nvSpPr>
          <p:cNvPr id="8" name="Shape 6"/>
          <p:cNvSpPr/>
          <p:nvPr/>
        </p:nvSpPr>
        <p:spPr>
          <a:xfrm>
            <a:off x="3281363" y="2180729"/>
            <a:ext cx="0" cy="938312"/>
          </a:xfrm>
          <a:prstGeom prst="line">
            <a:avLst/>
          </a:prstGeom>
          <a:noFill/>
          <a:ln w="6350">
            <a:solidFill>
              <a:srgbClr val="D8DAE5"/>
            </a:solidFill>
            <a:prstDash val="solid"/>
          </a:ln>
        </p:spPr>
      </p:sp>
      <p:sp>
        <p:nvSpPr>
          <p:cNvPr id="9" name="Text 7"/>
          <p:cNvSpPr/>
          <p:nvPr/>
        </p:nvSpPr>
        <p:spPr>
          <a:xfrm>
            <a:off x="3513138" y="2345829"/>
            <a:ext cx="2539349" cy="232073"/>
          </a:xfrm>
          <a:prstGeom prst="rect">
            <a:avLst/>
          </a:prstGeom>
          <a:noFill/>
          <a:ln/>
        </p:spPr>
        <p:txBody>
          <a:bodyPr wrap="square" lIns="0" tIns="0" rIns="0" bIns="0" rtlCol="0" anchor="t">
            <a:normAutofit/>
          </a:bodyPr>
          <a:lstStyle/>
          <a:p>
            <a:pPr algn="l" indent="0" marL="0">
              <a:lnSpc>
                <a:spcPts val="1673"/>
              </a:lnSpc>
              <a:buNone/>
            </a:pPr>
            <a:r>
              <a:rPr lang="en-US" sz="1195" dirty="0">
                <a:solidFill>
                  <a:srgbClr val="5B5E7D"/>
                </a:solidFill>
                <a:latin typeface="IBM Plex Sans" pitchFamily="34" charset="0"/>
                <a:ea typeface="IBM Plex Sans" pitchFamily="34" charset="-122"/>
                <a:cs typeface="IBM Plex Sans" pitchFamily="34" charset="-120"/>
              </a:rPr>
              <a:t>Growth in six months</a:t>
            </a:r>
            <a:endParaRPr lang="en-US" sz="1195" dirty="0"/>
          </a:p>
        </p:txBody>
      </p:sp>
      <p:sp>
        <p:nvSpPr>
          <p:cNvPr id="10" name="Text 8"/>
          <p:cNvSpPr/>
          <p:nvPr/>
        </p:nvSpPr>
        <p:spPr>
          <a:xfrm>
            <a:off x="3513138" y="2603302"/>
            <a:ext cx="2539349" cy="376039"/>
          </a:xfrm>
          <a:prstGeom prst="rect">
            <a:avLst/>
          </a:prstGeom>
          <a:noFill/>
          <a:ln/>
        </p:spPr>
        <p:txBody>
          <a:bodyPr wrap="square" lIns="0" tIns="0" rIns="0" bIns="0" rtlCol="0" anchor="t">
            <a:normAutofit/>
          </a:bodyPr>
          <a:lstStyle/>
          <a:p>
            <a:pPr algn="l" indent="0" marL="0">
              <a:lnSpc>
                <a:spcPts val="2775"/>
              </a:lnSpc>
              <a:buNone/>
            </a:pPr>
            <a:r>
              <a:rPr lang="en-US" sz="2523" b="1" dirty="0">
                <a:solidFill>
                  <a:srgbClr val="0E1033"/>
                </a:solidFill>
                <a:latin typeface="Rubik" pitchFamily="34" charset="0"/>
                <a:ea typeface="Rubik" pitchFamily="34" charset="-122"/>
                <a:cs typeface="Rubik" pitchFamily="34" charset="-120"/>
              </a:rPr>
              <a:t>+82%</a:t>
            </a:r>
            <a:endParaRPr lang="en-US" sz="2523" dirty="0"/>
          </a:p>
        </p:txBody>
      </p:sp>
      <p:sp>
        <p:nvSpPr>
          <p:cNvPr id="11" name="Shape 9"/>
          <p:cNvSpPr/>
          <p:nvPr/>
        </p:nvSpPr>
        <p:spPr>
          <a:xfrm>
            <a:off x="5981700" y="2180729"/>
            <a:ext cx="0" cy="938312"/>
          </a:xfrm>
          <a:prstGeom prst="line">
            <a:avLst/>
          </a:prstGeom>
          <a:noFill/>
          <a:ln w="6350">
            <a:solidFill>
              <a:srgbClr val="D8DAE5"/>
            </a:solidFill>
            <a:prstDash val="solid"/>
          </a:ln>
        </p:spPr>
      </p:sp>
      <p:sp>
        <p:nvSpPr>
          <p:cNvPr id="12" name="Text 10"/>
          <p:cNvSpPr/>
          <p:nvPr/>
        </p:nvSpPr>
        <p:spPr>
          <a:xfrm>
            <a:off x="6213475" y="2345829"/>
            <a:ext cx="2539349" cy="232073"/>
          </a:xfrm>
          <a:prstGeom prst="rect">
            <a:avLst/>
          </a:prstGeom>
          <a:noFill/>
          <a:ln/>
        </p:spPr>
        <p:txBody>
          <a:bodyPr wrap="square" lIns="0" tIns="0" rIns="0" bIns="0" rtlCol="0" anchor="t">
            <a:normAutofit/>
          </a:bodyPr>
          <a:lstStyle/>
          <a:p>
            <a:pPr algn="l" indent="0" marL="0">
              <a:lnSpc>
                <a:spcPts val="1673"/>
              </a:lnSpc>
              <a:buNone/>
            </a:pPr>
            <a:r>
              <a:rPr lang="en-US" sz="1195" dirty="0">
                <a:solidFill>
                  <a:srgbClr val="5B5E7D"/>
                </a:solidFill>
                <a:latin typeface="IBM Plex Sans" pitchFamily="34" charset="0"/>
                <a:ea typeface="IBM Plex Sans" pitchFamily="34" charset="-122"/>
                <a:cs typeface="IBM Plex Sans" pitchFamily="34" charset="-120"/>
              </a:rPr>
              <a:t>Yield on cost</a:t>
            </a:r>
            <a:endParaRPr lang="en-US" sz="1195" dirty="0"/>
          </a:p>
        </p:txBody>
      </p:sp>
      <p:sp>
        <p:nvSpPr>
          <p:cNvPr id="13" name="Text 11"/>
          <p:cNvSpPr/>
          <p:nvPr/>
        </p:nvSpPr>
        <p:spPr>
          <a:xfrm>
            <a:off x="6213475" y="2603302"/>
            <a:ext cx="2539349" cy="376039"/>
          </a:xfrm>
          <a:prstGeom prst="rect">
            <a:avLst/>
          </a:prstGeom>
          <a:noFill/>
          <a:ln/>
        </p:spPr>
        <p:txBody>
          <a:bodyPr wrap="square" lIns="0" tIns="0" rIns="0" bIns="0" rtlCol="0" anchor="t">
            <a:normAutofit/>
          </a:bodyPr>
          <a:lstStyle/>
          <a:p>
            <a:pPr algn="l" indent="0" marL="0">
              <a:lnSpc>
                <a:spcPts val="2775"/>
              </a:lnSpc>
              <a:buNone/>
            </a:pPr>
            <a:r>
              <a:rPr lang="en-US" sz="2523" b="1" dirty="0">
                <a:solidFill>
                  <a:srgbClr val="0E1033"/>
                </a:solidFill>
                <a:latin typeface="Rubik" pitchFamily="34" charset="0"/>
                <a:ea typeface="Rubik" pitchFamily="34" charset="-122"/>
                <a:cs typeface="Rubik" pitchFamily="34" charset="-120"/>
              </a:rPr>
              <a:t>11.5%</a:t>
            </a:r>
            <a:endParaRPr lang="en-US" sz="2523" dirty="0"/>
          </a:p>
        </p:txBody>
      </p:sp>
      <p:sp>
        <p:nvSpPr>
          <p:cNvPr id="14" name="Shape 12"/>
          <p:cNvSpPr/>
          <p:nvPr/>
        </p:nvSpPr>
        <p:spPr>
          <a:xfrm>
            <a:off x="8682038" y="2180729"/>
            <a:ext cx="0" cy="938312"/>
          </a:xfrm>
          <a:prstGeom prst="line">
            <a:avLst/>
          </a:prstGeom>
          <a:noFill/>
          <a:ln w="6350">
            <a:solidFill>
              <a:srgbClr val="D8DAE5"/>
            </a:solidFill>
            <a:prstDash val="solid"/>
          </a:ln>
        </p:spPr>
      </p:sp>
      <p:sp>
        <p:nvSpPr>
          <p:cNvPr id="15" name="Text 13"/>
          <p:cNvSpPr/>
          <p:nvPr/>
        </p:nvSpPr>
        <p:spPr>
          <a:xfrm>
            <a:off x="8913813" y="2345829"/>
            <a:ext cx="2539349" cy="232073"/>
          </a:xfrm>
          <a:prstGeom prst="rect">
            <a:avLst/>
          </a:prstGeom>
          <a:noFill/>
          <a:ln/>
        </p:spPr>
        <p:txBody>
          <a:bodyPr wrap="square" lIns="0" tIns="0" rIns="0" bIns="0" rtlCol="0" anchor="t">
            <a:normAutofit/>
          </a:bodyPr>
          <a:lstStyle/>
          <a:p>
            <a:pPr algn="l" indent="0" marL="0">
              <a:lnSpc>
                <a:spcPts val="1673"/>
              </a:lnSpc>
              <a:buNone/>
            </a:pPr>
            <a:r>
              <a:rPr lang="en-US" sz="1195" dirty="0">
                <a:solidFill>
                  <a:srgbClr val="5B5E7D"/>
                </a:solidFill>
                <a:latin typeface="IBM Plex Sans" pitchFamily="34" charset="0"/>
                <a:ea typeface="IBM Plex Sans" pitchFamily="34" charset="-122"/>
                <a:cs typeface="IBM Plex Sans" pitchFamily="34" charset="-120"/>
              </a:rPr>
              <a:t>Additional land and shell</a:t>
            </a:r>
            <a:endParaRPr lang="en-US" sz="1195" dirty="0"/>
          </a:p>
        </p:txBody>
      </p:sp>
      <p:sp>
        <p:nvSpPr>
          <p:cNvPr id="16" name="Text 14"/>
          <p:cNvSpPr/>
          <p:nvPr/>
        </p:nvSpPr>
        <p:spPr>
          <a:xfrm>
            <a:off x="8913813" y="2603302"/>
            <a:ext cx="2539349" cy="376039"/>
          </a:xfrm>
          <a:prstGeom prst="rect">
            <a:avLst/>
          </a:prstGeom>
          <a:noFill/>
          <a:ln/>
        </p:spPr>
        <p:txBody>
          <a:bodyPr wrap="square" lIns="0" tIns="0" rIns="0" bIns="0" rtlCol="0" anchor="t">
            <a:normAutofit/>
          </a:bodyPr>
          <a:lstStyle/>
          <a:p>
            <a:pPr algn="l" indent="0" marL="0">
              <a:lnSpc>
                <a:spcPts val="2775"/>
              </a:lnSpc>
              <a:buNone/>
            </a:pPr>
            <a:r>
              <a:rPr lang="en-US" sz="2523" b="1" dirty="0">
                <a:solidFill>
                  <a:srgbClr val="0E1033"/>
                </a:solidFill>
                <a:latin typeface="Rubik" pitchFamily="34" charset="0"/>
                <a:ea typeface="Rubik" pitchFamily="34" charset="-122"/>
                <a:cs typeface="Rubik" pitchFamily="34" charset="-120"/>
              </a:rPr>
              <a:t>7 GW</a:t>
            </a:r>
            <a:endParaRPr lang="en-US" sz="2523" dirty="0"/>
          </a:p>
        </p:txBody>
      </p:sp>
      <p:sp>
        <p:nvSpPr>
          <p:cNvPr id="17" name="Text 15"/>
          <p:cNvSpPr/>
          <p:nvPr/>
        </p:nvSpPr>
        <p:spPr>
          <a:xfrm>
            <a:off x="812800" y="3119041"/>
            <a:ext cx="10883392" cy="246211"/>
          </a:xfrm>
          <a:prstGeom prst="rect">
            <a:avLst/>
          </a:prstGeom>
          <a:noFill/>
          <a:ln/>
        </p:spPr>
        <p:txBody>
          <a:bodyPr wrap="square" lIns="0" tIns="0" rIns="0" bIns="0" rtlCol="0" anchor="t">
            <a:normAutofit/>
          </a:bodyPr>
          <a:lstStyle/>
          <a:p>
            <a:pPr algn="l" indent="0" marL="0">
              <a:lnSpc>
                <a:spcPts val="1774"/>
              </a:lnSpc>
              <a:buNone/>
            </a:pPr>
            <a:r>
              <a:rPr lang="en-US" sz="1268" b="1" spc="100" kern="0" dirty="0">
                <a:solidFill>
                  <a:srgbClr val="5B5E7D"/>
                </a:solidFill>
                <a:latin typeface="IBM Plex Sans" pitchFamily="34" charset="0"/>
                <a:ea typeface="IBM Plex Sans" pitchFamily="34" charset="-122"/>
                <a:cs typeface="IBM Plex Sans" pitchFamily="34" charset="-120"/>
              </a:rPr>
              <a:t>EVIDENCE THEY CAN EXECUTE, NOT JUST HOLD LAND</a:t>
            </a:r>
            <a:endParaRPr lang="en-US" sz="1268"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812800" y="3428752"/>
          <a:ext cx="10566400" cy="2400548"/>
        </p:xfrm>
        <a:graphic>
          <a:graphicData uri="http://schemas.openxmlformats.org/drawingml/2006/table">
            <a:tbl>
              <a:tblPr/>
              <a:tblGrid>
                <a:gridCol w="2324608"/>
                <a:gridCol w="2113280"/>
                <a:gridCol w="6128512"/>
              </a:tblGrid>
              <a:tr h="381794">
                <a:tc>
                  <a:txBody>
                    <a:bodyPr/>
                    <a:lstStyle/>
                    <a:p>
                      <a:pPr indent="0" marL="0">
                        <a:lnSpc>
                          <a:spcPts val="1935"/>
                        </a:lnSpc>
                        <a:buNone/>
                      </a:pPr>
                      <a:r>
                        <a:rPr lang="en-US" sz="1382" b="1" dirty="0">
                          <a:solidFill>
                            <a:srgbClr val="0E1033"/>
                          </a:solidFill>
                          <a:latin typeface="IBM Plex Sans" pitchFamily="34" charset="0"/>
                          <a:ea typeface="IBM Plex Sans" pitchFamily="34" charset="-122"/>
                          <a:cs typeface="IBM Plex Sans" pitchFamily="34" charset="-120"/>
                        </a:rPr>
                        <a:t>Market</a:t>
                      </a:r>
                      <a:endParaRPr lang="en-US" sz="1382" dirty="0">
                        <a:latin typeface="IBM Plex Sans" charset="0"/>
                        <a:ea typeface="IBM Plex Sans" charset="0"/>
                        <a:cs typeface="IBM Plex Sans" charset="0"/>
                      </a:endParaRPr>
                    </a:p>
                  </a:txBody>
                  <a:tcPr marL="61431" marR="61431" marT="61431" marB="61431"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solidFill>
                      <a:srgbClr val="F4F5F9"/>
                    </a:solidFill>
                  </a:tcPr>
                </a:tc>
                <a:tc>
                  <a:txBody>
                    <a:bodyPr/>
                    <a:lstStyle/>
                    <a:p>
                      <a:pPr algn="r" indent="0" marL="0">
                        <a:lnSpc>
                          <a:spcPts val="1935"/>
                        </a:lnSpc>
                        <a:buNone/>
                      </a:pPr>
                      <a:r>
                        <a:rPr lang="en-US" sz="1382" b="1" dirty="0">
                          <a:solidFill>
                            <a:srgbClr val="0E1033"/>
                          </a:solidFill>
                          <a:latin typeface="IBM Plex Sans" pitchFamily="34" charset="0"/>
                          <a:ea typeface="IBM Plex Sans" pitchFamily="34" charset="-122"/>
                          <a:cs typeface="IBM Plex Sans" pitchFamily="34" charset="-120"/>
                        </a:rPr>
                        <a:t>Capacity</a:t>
                      </a:r>
                      <a:endParaRPr lang="en-US" sz="1382" dirty="0">
                        <a:latin typeface="IBM Plex Sans" charset="0"/>
                        <a:ea typeface="IBM Plex Sans" charset="0"/>
                        <a:cs typeface="IBM Plex Sans" charset="0"/>
                      </a:endParaRPr>
                    </a:p>
                  </a:txBody>
                  <a:tcPr marL="61431" marR="61431" marT="61431" marB="61431"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solidFill>
                      <a:srgbClr val="F4F5F9"/>
                    </a:solidFill>
                  </a:tcPr>
                </a:tc>
                <a:tc>
                  <a:txBody>
                    <a:bodyPr/>
                    <a:lstStyle/>
                    <a:p>
                      <a:pPr indent="0" marL="0">
                        <a:lnSpc>
                          <a:spcPts val="1935"/>
                        </a:lnSpc>
                        <a:buNone/>
                      </a:pPr>
                      <a:r>
                        <a:rPr lang="en-US" sz="1382" b="1" dirty="0">
                          <a:solidFill>
                            <a:srgbClr val="0E1033"/>
                          </a:solidFill>
                          <a:latin typeface="IBM Plex Sans" pitchFamily="34" charset="0"/>
                          <a:ea typeface="IBM Plex Sans" pitchFamily="34" charset="-122"/>
                          <a:cs typeface="IBM Plex Sans" pitchFamily="34" charset="-120"/>
                        </a:rPr>
                        <a:t>Status</a:t>
                      </a:r>
                      <a:endParaRPr lang="en-US" sz="1382" dirty="0">
                        <a:latin typeface="IBM Plex Sans" charset="0"/>
                        <a:ea typeface="IBM Plex Sans" charset="0"/>
                        <a:cs typeface="IBM Plex Sans" charset="0"/>
                      </a:endParaRPr>
                    </a:p>
                  </a:txBody>
                  <a:tcPr marL="61431" marR="61431" marT="61431" marB="61431"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solidFill>
                      <a:srgbClr val="F4F5F9"/>
                    </a:solidFill>
                  </a:tcPr>
                </a:tc>
              </a:tr>
              <a:tr h="627509">
                <a:tc>
                  <a:txBody>
                    <a:bodyPr/>
                    <a:lstStyle/>
                    <a:p>
                      <a:pPr indent="0" marL="0">
                        <a:lnSpc>
                          <a:spcPts val="1935"/>
                        </a:lnSpc>
                        <a:buNone/>
                      </a:pPr>
                      <a:r>
                        <a:rPr lang="en-US" sz="1382" dirty="0">
                          <a:solidFill>
                            <a:srgbClr val="0E1033"/>
                          </a:solidFill>
                          <a:latin typeface="IBM Plex Sans" pitchFamily="34" charset="0"/>
                          <a:ea typeface="IBM Plex Sans" pitchFamily="34" charset="-122"/>
                          <a:cs typeface="IBM Plex Sans" pitchFamily="34" charset="-120"/>
                        </a:rPr>
                        <a:t>Charlotte</a:t>
                      </a:r>
                      <a:endParaRPr lang="en-US" sz="1382" dirty="0">
                        <a:latin typeface="IBM Plex Sans" charset="0"/>
                        <a:ea typeface="IBM Plex Sans" charset="0"/>
                        <a:cs typeface="IBM Plex Sans" charset="0"/>
                      </a:endParaRPr>
                    </a:p>
                  </a:txBody>
                  <a:tcPr marL="61431" marR="61431" marT="61431" marB="61431"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tcPr>
                </a:tc>
                <a:tc>
                  <a:txBody>
                    <a:bodyPr/>
                    <a:lstStyle/>
                    <a:p>
                      <a:pPr algn="r" indent="0" marL="0">
                        <a:lnSpc>
                          <a:spcPts val="1935"/>
                        </a:lnSpc>
                        <a:buNone/>
                      </a:pPr>
                      <a:r>
                        <a:rPr lang="en-US" sz="1382" dirty="0">
                          <a:solidFill>
                            <a:srgbClr val="0E1033"/>
                          </a:solidFill>
                          <a:latin typeface="IBM Plex Sans" pitchFamily="34" charset="0"/>
                          <a:ea typeface="IBM Plex Sans" pitchFamily="34" charset="-122"/>
                          <a:cs typeface="IBM Plex Sans" pitchFamily="34" charset="-120"/>
                        </a:rPr>
                        <a:t>200 MW</a:t>
                      </a:r>
                      <a:endParaRPr lang="en-US" sz="1382" dirty="0">
                        <a:latin typeface="IBM Plex Sans" charset="0"/>
                        <a:ea typeface="IBM Plex Sans" charset="0"/>
                        <a:cs typeface="IBM Plex Sans" charset="0"/>
                      </a:endParaRPr>
                    </a:p>
                  </a:txBody>
                  <a:tcPr marL="61431" marR="61431" marT="61431" marB="61431"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tcPr>
                </a:tc>
                <a:tc>
                  <a:txBody>
                    <a:bodyPr/>
                    <a:lstStyle/>
                    <a:p>
                      <a:pPr indent="0" marL="0">
                        <a:lnSpc>
                          <a:spcPts val="1935"/>
                        </a:lnSpc>
                        <a:buNone/>
                      </a:pPr>
                      <a:r>
                        <a:rPr lang="en-US" sz="1382" dirty="0">
                          <a:solidFill>
                            <a:srgbClr val="0E1033"/>
                          </a:solidFill>
                          <a:latin typeface="IBM Plex Sans" pitchFamily="34" charset="0"/>
                          <a:ea typeface="IBM Plex Sans" pitchFamily="34" charset="-122"/>
                          <a:cs typeface="IBM Plex Sans" pitchFamily="34" charset="-120"/>
                        </a:rPr>
                        <a:t>Announced to fully leased in under 18 months; second building now underway</a:t>
                      </a:r>
                      <a:endParaRPr lang="en-US" sz="1382" dirty="0">
                        <a:latin typeface="IBM Plex Sans" charset="0"/>
                        <a:ea typeface="IBM Plex Sans" charset="0"/>
                        <a:cs typeface="IBM Plex Sans" charset="0"/>
                      </a:endParaRPr>
                    </a:p>
                  </a:txBody>
                  <a:tcPr marL="61431" marR="61431" marT="61431" marB="61431"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tcPr>
                </a:tc>
              </a:tr>
              <a:tr h="381843">
                <a:tc>
                  <a:txBody>
                    <a:bodyPr/>
                    <a:lstStyle/>
                    <a:p>
                      <a:pPr indent="0" marL="0">
                        <a:lnSpc>
                          <a:spcPts val="1935"/>
                        </a:lnSpc>
                        <a:buNone/>
                      </a:pPr>
                      <a:r>
                        <a:rPr lang="en-US" sz="1382" dirty="0">
                          <a:solidFill>
                            <a:srgbClr val="0E1033"/>
                          </a:solidFill>
                          <a:latin typeface="IBM Plex Sans" pitchFamily="34" charset="0"/>
                          <a:ea typeface="IBM Plex Sans" pitchFamily="34" charset="-122"/>
                          <a:cs typeface="IBM Plex Sans" pitchFamily="34" charset="-120"/>
                        </a:rPr>
                        <a:t>Kansas City</a:t>
                      </a:r>
                      <a:endParaRPr lang="en-US" sz="1382" dirty="0">
                        <a:latin typeface="IBM Plex Sans" charset="0"/>
                        <a:ea typeface="IBM Plex Sans" charset="0"/>
                        <a:cs typeface="IBM Plex Sans" charset="0"/>
                      </a:endParaRPr>
                    </a:p>
                  </a:txBody>
                  <a:tcPr marL="61431" marR="61431" marT="61431" marB="61431"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tcPr>
                </a:tc>
                <a:tc>
                  <a:txBody>
                    <a:bodyPr/>
                    <a:lstStyle/>
                    <a:p>
                      <a:pPr algn="r" indent="0" marL="0">
                        <a:lnSpc>
                          <a:spcPts val="1935"/>
                        </a:lnSpc>
                        <a:buNone/>
                      </a:pPr>
                      <a:r>
                        <a:rPr lang="en-US" sz="1382" dirty="0">
                          <a:solidFill>
                            <a:srgbClr val="0E1033"/>
                          </a:solidFill>
                          <a:latin typeface="IBM Plex Sans" pitchFamily="34" charset="0"/>
                          <a:ea typeface="IBM Plex Sans" pitchFamily="34" charset="-122"/>
                          <a:cs typeface="IBM Plex Sans" pitchFamily="34" charset="-120"/>
                        </a:rPr>
                        <a:t>2 GW</a:t>
                      </a:r>
                      <a:endParaRPr lang="en-US" sz="1382" dirty="0">
                        <a:latin typeface="IBM Plex Sans" charset="0"/>
                        <a:ea typeface="IBM Plex Sans" charset="0"/>
                        <a:cs typeface="IBM Plex Sans" charset="0"/>
                      </a:endParaRPr>
                    </a:p>
                  </a:txBody>
                  <a:tcPr marL="61431" marR="61431" marT="61431" marB="61431"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tcPr>
                </a:tc>
                <a:tc>
                  <a:txBody>
                    <a:bodyPr/>
                    <a:lstStyle/>
                    <a:p>
                      <a:pPr indent="0" marL="0">
                        <a:lnSpc>
                          <a:spcPts val="1935"/>
                        </a:lnSpc>
                        <a:buNone/>
                      </a:pPr>
                      <a:r>
                        <a:rPr lang="en-US" sz="1382" dirty="0">
                          <a:solidFill>
                            <a:srgbClr val="0E1033"/>
                          </a:solidFill>
                          <a:latin typeface="IBM Plex Sans" pitchFamily="34" charset="0"/>
                          <a:ea typeface="IBM Plex Sans" pitchFamily="34" charset="-122"/>
                          <a:cs typeface="IBM Plex Sans" pitchFamily="34" charset="-120"/>
                        </a:rPr>
                        <a:t>1,440 acres acquired; 600 MW of utility load provisioned by 2028</a:t>
                      </a:r>
                      <a:endParaRPr lang="en-US" sz="1382" dirty="0">
                        <a:latin typeface="IBM Plex Sans" charset="0"/>
                        <a:ea typeface="IBM Plex Sans" charset="0"/>
                        <a:cs typeface="IBM Plex Sans" charset="0"/>
                      </a:endParaRPr>
                    </a:p>
                  </a:txBody>
                  <a:tcPr marL="61431" marR="61431" marT="61431" marB="61431"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tcPr>
                </a:tc>
              </a:tr>
              <a:tr h="381843">
                <a:tc>
                  <a:txBody>
                    <a:bodyPr/>
                    <a:lstStyle/>
                    <a:p>
                      <a:pPr indent="0" marL="0">
                        <a:lnSpc>
                          <a:spcPts val="1935"/>
                        </a:lnSpc>
                        <a:buNone/>
                      </a:pPr>
                      <a:r>
                        <a:rPr lang="en-US" sz="1382" dirty="0">
                          <a:solidFill>
                            <a:srgbClr val="0E1033"/>
                          </a:solidFill>
                          <a:latin typeface="IBM Plex Sans" pitchFamily="34" charset="0"/>
                          <a:ea typeface="IBM Plex Sans" pitchFamily="34" charset="-122"/>
                          <a:cs typeface="IBM Plex Sans" pitchFamily="34" charset="-120"/>
                        </a:rPr>
                        <a:t>Atlanta</a:t>
                      </a:r>
                      <a:endParaRPr lang="en-US" sz="1382" dirty="0">
                        <a:latin typeface="IBM Plex Sans" charset="0"/>
                        <a:ea typeface="IBM Plex Sans" charset="0"/>
                        <a:cs typeface="IBM Plex Sans" charset="0"/>
                      </a:endParaRPr>
                    </a:p>
                  </a:txBody>
                  <a:tcPr marL="61431" marR="61431" marT="61431" marB="61431"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tcPr>
                </a:tc>
                <a:tc>
                  <a:txBody>
                    <a:bodyPr/>
                    <a:lstStyle/>
                    <a:p>
                      <a:pPr algn="r" indent="0" marL="0">
                        <a:lnSpc>
                          <a:spcPts val="1935"/>
                        </a:lnSpc>
                        <a:buNone/>
                      </a:pPr>
                      <a:r>
                        <a:rPr lang="en-US" sz="1382" dirty="0">
                          <a:solidFill>
                            <a:srgbClr val="0E1033"/>
                          </a:solidFill>
                          <a:latin typeface="IBM Plex Sans" pitchFamily="34" charset="0"/>
                          <a:ea typeface="IBM Plex Sans" pitchFamily="34" charset="-122"/>
                          <a:cs typeface="IBM Plex Sans" pitchFamily="34" charset="-120"/>
                        </a:rPr>
                        <a:t>1 GW</a:t>
                      </a:r>
                      <a:endParaRPr lang="en-US" sz="1382" dirty="0">
                        <a:latin typeface="IBM Plex Sans" charset="0"/>
                        <a:ea typeface="IBM Plex Sans" charset="0"/>
                        <a:cs typeface="IBM Plex Sans" charset="0"/>
                      </a:endParaRPr>
                    </a:p>
                  </a:txBody>
                  <a:tcPr marL="61431" marR="61431" marT="61431" marB="61431"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tcPr>
                </a:tc>
                <a:tc>
                  <a:txBody>
                    <a:bodyPr/>
                    <a:lstStyle/>
                    <a:p>
                      <a:pPr indent="0" marL="0">
                        <a:lnSpc>
                          <a:spcPts val="1935"/>
                        </a:lnSpc>
                        <a:buNone/>
                      </a:pPr>
                      <a:r>
                        <a:rPr lang="en-US" sz="1382" dirty="0">
                          <a:solidFill>
                            <a:srgbClr val="0E1033"/>
                          </a:solidFill>
                          <a:latin typeface="IBM Plex Sans" pitchFamily="34" charset="0"/>
                          <a:ea typeface="IBM Plex Sans" pitchFamily="34" charset="-122"/>
                          <a:cs typeface="IBM Plex Sans" pitchFamily="34" charset="-120"/>
                        </a:rPr>
                        <a:t>873 acres acquired; first phase of 192 MW delivering 1Q29</a:t>
                      </a:r>
                      <a:endParaRPr lang="en-US" sz="1382" dirty="0">
                        <a:latin typeface="IBM Plex Sans" charset="0"/>
                        <a:ea typeface="IBM Plex Sans" charset="0"/>
                        <a:cs typeface="IBM Plex Sans" charset="0"/>
                      </a:endParaRPr>
                    </a:p>
                  </a:txBody>
                  <a:tcPr marL="61431" marR="61431" marT="61431" marB="61431"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tcPr>
                </a:tc>
              </a:tr>
              <a:tr h="627559">
                <a:tc>
                  <a:txBody>
                    <a:bodyPr/>
                    <a:lstStyle/>
                    <a:p>
                      <a:pPr indent="0" marL="0">
                        <a:lnSpc>
                          <a:spcPts val="1935"/>
                        </a:lnSpc>
                        <a:buNone/>
                      </a:pPr>
                      <a:r>
                        <a:rPr lang="en-US" sz="1382" dirty="0">
                          <a:solidFill>
                            <a:srgbClr val="0E1033"/>
                          </a:solidFill>
                          <a:latin typeface="IBM Plex Sans" pitchFamily="34" charset="0"/>
                          <a:ea typeface="IBM Plex Sans" pitchFamily="34" charset="-122"/>
                          <a:cs typeface="IBM Plex Sans" pitchFamily="34" charset="-120"/>
                        </a:rPr>
                        <a:t>Northern Virginia</a:t>
                      </a:r>
                      <a:endParaRPr lang="en-US" sz="1382" dirty="0">
                        <a:latin typeface="IBM Plex Sans" charset="0"/>
                        <a:ea typeface="IBM Plex Sans" charset="0"/>
                        <a:cs typeface="IBM Plex Sans" charset="0"/>
                      </a:endParaRPr>
                    </a:p>
                  </a:txBody>
                  <a:tcPr marL="61431" marR="61431" marT="61431" marB="61431"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tcPr>
                </a:tc>
                <a:tc>
                  <a:txBody>
                    <a:bodyPr/>
                    <a:lstStyle/>
                    <a:p>
                      <a:pPr algn="r" indent="0" marL="0">
                        <a:lnSpc>
                          <a:spcPts val="1935"/>
                        </a:lnSpc>
                        <a:buNone/>
                      </a:pPr>
                      <a:r>
                        <a:rPr lang="en-US" sz="1382" dirty="0">
                          <a:solidFill>
                            <a:srgbClr val="0E1033"/>
                          </a:solidFill>
                          <a:latin typeface="IBM Plex Sans" pitchFamily="34" charset="0"/>
                          <a:ea typeface="IBM Plex Sans" pitchFamily="34" charset="-122"/>
                          <a:cs typeface="IBM Plex Sans" pitchFamily="34" charset="-120"/>
                        </a:rPr>
                        <a:t>422 MW</a:t>
                      </a:r>
                      <a:endParaRPr lang="en-US" sz="1382" dirty="0">
                        <a:latin typeface="IBM Plex Sans" charset="0"/>
                        <a:ea typeface="IBM Plex Sans" charset="0"/>
                        <a:cs typeface="IBM Plex Sans" charset="0"/>
                      </a:endParaRPr>
                    </a:p>
                  </a:txBody>
                  <a:tcPr marL="61431" marR="61431" marT="61431" marB="61431"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tcPr>
                </a:tc>
                <a:tc>
                  <a:txBody>
                    <a:bodyPr/>
                    <a:lstStyle/>
                    <a:p>
                      <a:pPr indent="0" marL="0">
                        <a:lnSpc>
                          <a:spcPts val="1935"/>
                        </a:lnSpc>
                        <a:buNone/>
                      </a:pPr>
                      <a:r>
                        <a:rPr lang="en-US" sz="1382" dirty="0">
                          <a:solidFill>
                            <a:srgbClr val="0E1033"/>
                          </a:solidFill>
                          <a:latin typeface="IBM Plex Sans" pitchFamily="34" charset="0"/>
                          <a:ea typeface="IBM Plex Sans" pitchFamily="34" charset="-122"/>
                          <a:cs typeface="IBM Plex Sans" pitchFamily="34" charset="-120"/>
                        </a:rPr>
                        <a:t>Largest single market under construction, 56% pre-leased, delivering 3Q27</a:t>
                      </a:r>
                      <a:endParaRPr lang="en-US" sz="1382" dirty="0">
                        <a:latin typeface="IBM Plex Sans" charset="0"/>
                        <a:ea typeface="IBM Plex Sans" charset="0"/>
                        <a:cs typeface="IBM Plex Sans" charset="0"/>
                      </a:endParaRPr>
                    </a:p>
                  </a:txBody>
                  <a:tcPr marL="61431" marR="61431" marT="61431" marB="61431"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tcPr>
                </a:tc>
              </a:tr>
            </a:tbl>
          </a:graphicData>
        </a:graphic>
      </p:graphicFrame>
      <p:sp>
        <p:nvSpPr>
          <p:cNvPr id="19" name="Text 16"/>
          <p:cNvSpPr/>
          <p:nvPr/>
        </p:nvSpPr>
        <p:spPr>
          <a:xfrm>
            <a:off x="812800" y="6238280"/>
            <a:ext cx="555370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C8099"/>
                </a:solidFill>
                <a:latin typeface="IBM Plex Sans" pitchFamily="34" charset="0"/>
                <a:ea typeface="IBM Plex Sans" pitchFamily="34" charset="-122"/>
                <a:cs typeface="IBM Plex Sans" pitchFamily="34" charset="-120"/>
              </a:rPr>
              <a:t>Source: DLR 2Q26 supplement, development lifecycle p.23; 1Q26 earnings call</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A2BE0"/>
                </a:solidFill>
                <a:latin typeface="IBM Plex Sans" pitchFamily="34" charset="0"/>
                <a:ea typeface="IBM Plex Sans" pitchFamily="34" charset="-122"/>
                <a:cs typeface="IBM Plex Sans" pitchFamily="34" charset="-120"/>
              </a:rPr>
              <a:t>PILLAR TWO</a:t>
            </a:r>
            <a:endParaRPr lang="en-US" sz="1200" dirty="0"/>
          </a:p>
        </p:txBody>
      </p:sp>
      <p:sp>
        <p:nvSpPr>
          <p:cNvPr id="3" name="Text 1"/>
          <p:cNvSpPr/>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0E1033"/>
                </a:solidFill>
                <a:latin typeface="Rubik" pitchFamily="34" charset="0"/>
                <a:ea typeface="Rubik" pitchFamily="34" charset="-122"/>
                <a:cs typeface="Rubik" pitchFamily="34" charset="-120"/>
              </a:rPr>
              <a:t>Existing leases are repricing to market</a:t>
            </a:r>
            <a:endParaRPr lang="en-US" sz="3200" dirty="0"/>
          </a:p>
        </p:txBody>
      </p:sp>
      <p:sp>
        <p:nvSpPr>
          <p:cNvPr id="4" name="Text 2"/>
          <p:cNvSpPr/>
          <p:nvPr/>
        </p:nvSpPr>
        <p:spPr>
          <a:xfrm>
            <a:off x="812800" y="1676350"/>
            <a:ext cx="9287510"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5B5E7D"/>
                </a:solidFill>
                <a:latin typeface="IBM Plex Sans" pitchFamily="34" charset="0"/>
                <a:ea typeface="IBM Plex Sans" pitchFamily="34" charset="-122"/>
                <a:cs typeface="IBM Plex Sans" pitchFamily="34" charset="-120"/>
              </a:rPr>
              <a:t>Data center leases signed years ago are expiring into a far tighter market. Nothing has to be built for this to show up in revenue.</a:t>
            </a:r>
            <a:endParaRPr lang="en-US" sz="15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12800" y="2465784"/>
          <a:ext cx="10566400" cy="1651000"/>
        </p:xfrm>
        <a:graphic>
          <a:graphicData uri="http://schemas.openxmlformats.org/drawingml/2006/table">
            <a:tbl>
              <a:tblPr/>
              <a:tblGrid>
                <a:gridCol w="3592576"/>
                <a:gridCol w="2324608"/>
                <a:gridCol w="2324608"/>
                <a:gridCol w="2324608"/>
              </a:tblGrid>
              <a:tr h="412750">
                <a:tc>
                  <a:txBody>
                    <a:bodyPr/>
                    <a:lstStyle/>
                    <a:p>
                      <a:pPr indent="0" marL="0">
                        <a:lnSpc>
                          <a:spcPts val="2100"/>
                        </a:lnSpc>
                        <a:buNone/>
                      </a:pPr>
                      <a:r>
                        <a:rPr lang="en-US" sz="1500" b="1" dirty="0">
                          <a:solidFill>
                            <a:srgbClr val="0E1033"/>
                          </a:solidFill>
                          <a:latin typeface="IBM Plex Sans" pitchFamily="34" charset="0"/>
                          <a:ea typeface="IBM Plex Sans" pitchFamily="34" charset="-122"/>
                          <a:cs typeface="IBM Plex Sans" pitchFamily="34" charset="-120"/>
                        </a:rPr>
                        <a:t>2Q26 renewals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solidFill>
                      <a:srgbClr val="F4F5F9"/>
                    </a:solidFill>
                  </a:tcPr>
                </a:tc>
                <a:tc>
                  <a:txBody>
                    <a:bodyPr/>
                    <a:lstStyle/>
                    <a:p>
                      <a:pPr algn="r" indent="0" marL="0">
                        <a:lnSpc>
                          <a:spcPts val="2100"/>
                        </a:lnSpc>
                        <a:buNone/>
                      </a:pPr>
                      <a:r>
                        <a:rPr lang="en-US" sz="1500" b="1" dirty="0">
                          <a:solidFill>
                            <a:srgbClr val="0E1033"/>
                          </a:solidFill>
                          <a:latin typeface="IBM Plex Sans" pitchFamily="34" charset="0"/>
                          <a:ea typeface="IBM Plex Sans" pitchFamily="34" charset="-122"/>
                          <a:cs typeface="IBM Plex Sans" pitchFamily="34" charset="-120"/>
                        </a:rPr>
                        <a:t>Expiring rent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solidFill>
                      <a:srgbClr val="F4F5F9"/>
                    </a:solidFill>
                  </a:tcPr>
                </a:tc>
                <a:tc>
                  <a:txBody>
                    <a:bodyPr/>
                    <a:lstStyle/>
                    <a:p>
                      <a:pPr algn="r" indent="0" marL="0">
                        <a:lnSpc>
                          <a:spcPts val="2100"/>
                        </a:lnSpc>
                        <a:buNone/>
                      </a:pPr>
                      <a:r>
                        <a:rPr lang="en-US" sz="1500" b="1" dirty="0">
                          <a:solidFill>
                            <a:srgbClr val="0E1033"/>
                          </a:solidFill>
                          <a:latin typeface="IBM Plex Sans" pitchFamily="34" charset="0"/>
                          <a:ea typeface="IBM Plex Sans" pitchFamily="34" charset="-122"/>
                          <a:cs typeface="IBM Plex Sans" pitchFamily="34" charset="-120"/>
                        </a:rPr>
                        <a:t>Renewed rent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solidFill>
                      <a:srgbClr val="F4F5F9"/>
                    </a:solidFill>
                  </a:tcPr>
                </a:tc>
                <a:tc>
                  <a:txBody>
                    <a:bodyPr/>
                    <a:lstStyle/>
                    <a:p>
                      <a:pPr algn="r" indent="0" marL="0">
                        <a:lnSpc>
                          <a:spcPts val="2100"/>
                        </a:lnSpc>
                        <a:buNone/>
                      </a:pPr>
                      <a:r>
                        <a:rPr lang="en-US" sz="1500" b="1" dirty="0">
                          <a:solidFill>
                            <a:srgbClr val="0E1033"/>
                          </a:solidFill>
                          <a:latin typeface="IBM Plex Sans" pitchFamily="34" charset="0"/>
                          <a:ea typeface="IBM Plex Sans" pitchFamily="34" charset="-122"/>
                          <a:cs typeface="IBM Plex Sans" pitchFamily="34" charset="-120"/>
                        </a:rPr>
                        <a:t>Cash spread</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solidFill>
                      <a:srgbClr val="F4F5F9"/>
                    </a:solidFill>
                  </a:tcPr>
                </a:tc>
              </a:tr>
              <a:tr h="412750">
                <a:tc>
                  <a:txBody>
                    <a:bodyPr/>
                    <a:lstStyle/>
                    <a:p>
                      <a:pPr indent="0" marL="0">
                        <a:lnSpc>
                          <a:spcPts val="2100"/>
                        </a:lnSpc>
                        <a:buNone/>
                      </a:pPr>
                      <a:r>
                        <a:rPr lang="en-US" sz="1500" dirty="0">
                          <a:solidFill>
                            <a:srgbClr val="0E1033"/>
                          </a:solidFill>
                          <a:latin typeface="IBM Plex Sans" pitchFamily="34" charset="0"/>
                          <a:ea typeface="IBM Plex Sans" pitchFamily="34" charset="-122"/>
                          <a:cs typeface="IBM Plex Sans" pitchFamily="34" charset="-120"/>
                        </a:rPr>
                        <a:t>Hyperscale, above 1 MW</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tcPr>
                </a:tc>
                <a:tc>
                  <a:txBody>
                    <a:bodyPr/>
                    <a:lstStyle/>
                    <a:p>
                      <a:pPr algn="r" indent="0" marL="0">
                        <a:lnSpc>
                          <a:spcPts val="2100"/>
                        </a:lnSpc>
                        <a:buNone/>
                      </a:pPr>
                      <a:r>
                        <a:rPr lang="en-US" sz="1500" dirty="0">
                          <a:solidFill>
                            <a:srgbClr val="0E1033"/>
                          </a:solidFill>
                          <a:latin typeface="IBM Plex Sans" pitchFamily="34" charset="0"/>
                          <a:ea typeface="IBM Plex Sans" pitchFamily="34" charset="-122"/>
                          <a:cs typeface="IBM Plex Sans" pitchFamily="34" charset="-120"/>
                        </a:rPr>
                        <a:t>$159 / kW</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tcPr>
                </a:tc>
                <a:tc>
                  <a:txBody>
                    <a:bodyPr/>
                    <a:lstStyle/>
                    <a:p>
                      <a:pPr algn="r" indent="0" marL="0">
                        <a:lnSpc>
                          <a:spcPts val="2100"/>
                        </a:lnSpc>
                        <a:buNone/>
                      </a:pPr>
                      <a:r>
                        <a:rPr lang="en-US" sz="1500" dirty="0">
                          <a:solidFill>
                            <a:srgbClr val="0E1033"/>
                          </a:solidFill>
                          <a:latin typeface="IBM Plex Sans" pitchFamily="34" charset="0"/>
                          <a:ea typeface="IBM Plex Sans" pitchFamily="34" charset="-122"/>
                          <a:cs typeface="IBM Plex Sans" pitchFamily="34" charset="-120"/>
                        </a:rPr>
                        <a:t>$265 / kW</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tcPr>
                </a:tc>
                <a:tc>
                  <a:txBody>
                    <a:bodyPr/>
                    <a:lstStyle/>
                    <a:p>
                      <a:pPr algn="r" indent="0" marL="0">
                        <a:lnSpc>
                          <a:spcPts val="2100"/>
                        </a:lnSpc>
                        <a:buNone/>
                      </a:pPr>
                      <a:r>
                        <a:rPr lang="en-US" sz="1500" dirty="0">
                          <a:solidFill>
                            <a:srgbClr val="0B7A55"/>
                          </a:solidFill>
                          <a:latin typeface="IBM Plex Sans" pitchFamily="34" charset="0"/>
                          <a:ea typeface="IBM Plex Sans" pitchFamily="34" charset="-122"/>
                          <a:cs typeface="IBM Plex Sans" pitchFamily="34" charset="-120"/>
                        </a:rPr>
                        <a:t>+66.7%</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tcPr>
                </a:tc>
              </a:tr>
              <a:tr h="412750">
                <a:tc>
                  <a:txBody>
                    <a:bodyPr/>
                    <a:lstStyle/>
                    <a:p>
                      <a:pPr indent="0" marL="0">
                        <a:lnSpc>
                          <a:spcPts val="2100"/>
                        </a:lnSpc>
                        <a:buNone/>
                      </a:pPr>
                      <a:r>
                        <a:rPr lang="en-US" sz="1500" dirty="0">
                          <a:solidFill>
                            <a:srgbClr val="0E1033"/>
                          </a:solidFill>
                          <a:latin typeface="IBM Plex Sans" pitchFamily="34" charset="0"/>
                          <a:ea typeface="IBM Plex Sans" pitchFamily="34" charset="-122"/>
                          <a:cs typeface="IBM Plex Sans" pitchFamily="34" charset="-120"/>
                        </a:rPr>
                        <a:t>Colocation, below 1 MW</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tcPr>
                </a:tc>
                <a:tc>
                  <a:txBody>
                    <a:bodyPr/>
                    <a:lstStyle/>
                    <a:p>
                      <a:pPr algn="r" indent="0" marL="0">
                        <a:lnSpc>
                          <a:spcPts val="2100"/>
                        </a:lnSpc>
                        <a:buNone/>
                      </a:pPr>
                      <a:r>
                        <a:rPr lang="en-US" sz="1500" dirty="0">
                          <a:solidFill>
                            <a:srgbClr val="0E1033"/>
                          </a:solidFill>
                          <a:latin typeface="IBM Plex Sans" pitchFamily="34" charset="0"/>
                          <a:ea typeface="IBM Plex Sans" pitchFamily="34" charset="-122"/>
                          <a:cs typeface="IBM Plex Sans" pitchFamily="34" charset="-120"/>
                        </a:rPr>
                        <a:t>$331 / kW</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tcPr>
                </a:tc>
                <a:tc>
                  <a:txBody>
                    <a:bodyPr/>
                    <a:lstStyle/>
                    <a:p>
                      <a:pPr algn="r" indent="0" marL="0">
                        <a:lnSpc>
                          <a:spcPts val="2100"/>
                        </a:lnSpc>
                        <a:buNone/>
                      </a:pPr>
                      <a:r>
                        <a:rPr lang="en-US" sz="1500" dirty="0">
                          <a:solidFill>
                            <a:srgbClr val="0E1033"/>
                          </a:solidFill>
                          <a:latin typeface="IBM Plex Sans" pitchFamily="34" charset="0"/>
                          <a:ea typeface="IBM Plex Sans" pitchFamily="34" charset="-122"/>
                          <a:cs typeface="IBM Plex Sans" pitchFamily="34" charset="-120"/>
                        </a:rPr>
                        <a:t>$348 / kW</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tcPr>
                </a:tc>
                <a:tc>
                  <a:txBody>
                    <a:bodyPr/>
                    <a:lstStyle/>
                    <a:p>
                      <a:pPr algn="r" indent="0" marL="0">
                        <a:lnSpc>
                          <a:spcPts val="2100"/>
                        </a:lnSpc>
                        <a:buNone/>
                      </a:pPr>
                      <a:r>
                        <a:rPr lang="en-US" sz="1500" dirty="0">
                          <a:solidFill>
                            <a:srgbClr val="0B7A55"/>
                          </a:solidFill>
                          <a:latin typeface="IBM Plex Sans" pitchFamily="34" charset="0"/>
                          <a:ea typeface="IBM Plex Sans" pitchFamily="34" charset="-122"/>
                          <a:cs typeface="IBM Plex Sans" pitchFamily="34" charset="-120"/>
                        </a:rPr>
                        <a:t>+5.2%</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tcPr>
                </a:tc>
              </a:tr>
              <a:tr h="412750">
                <a:tc>
                  <a:txBody>
                    <a:bodyPr/>
                    <a:lstStyle/>
                    <a:p>
                      <a:pPr indent="0" marL="0">
                        <a:lnSpc>
                          <a:spcPts val="2100"/>
                        </a:lnSpc>
                        <a:buNone/>
                      </a:pPr>
                      <a:r>
                        <a:rPr lang="en-US" sz="1500" dirty="0">
                          <a:solidFill>
                            <a:srgbClr val="0E1033"/>
                          </a:solidFill>
                          <a:latin typeface="IBM Plex Sans" pitchFamily="34" charset="0"/>
                          <a:ea typeface="IBM Plex Sans" pitchFamily="34" charset="-122"/>
                          <a:cs typeface="IBM Plex Sans" pitchFamily="34" charset="-120"/>
                        </a:rPr>
                        <a:t>Blended</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solidFill>
                      <a:srgbClr val="F4F5F9"/>
                    </a:solidFill>
                  </a:tcPr>
                </a:tc>
                <a:tc>
                  <a:txBody>
                    <a:bodyPr/>
                    <a:lstStyle/>
                    <a:p>
                      <a:pPr algn="r" indent="0" marL="0">
                        <a:lnSpc>
                          <a:spcPts val="2100"/>
                        </a:lnSpc>
                        <a:buNone/>
                      </a:pPr>
                      <a:r>
                        <a:rPr lang="en-US" sz="1500" dirty="0">
                          <a:solidFill>
                            <a:srgbClr val="0E1033"/>
                          </a:solidFill>
                          <a:latin typeface="IBM Plex Sans" pitchFamily="34" charset="0"/>
                          <a:ea typeface="IBM Plex Sans" pitchFamily="34" charset="-122"/>
                          <a:cs typeface="IBM Plex Sans" pitchFamily="34" charset="-120"/>
                        </a:rPr>
                        <a:t>$244 / kW</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solidFill>
                      <a:srgbClr val="F4F5F9"/>
                    </a:solidFill>
                  </a:tcPr>
                </a:tc>
                <a:tc>
                  <a:txBody>
                    <a:bodyPr/>
                    <a:lstStyle/>
                    <a:p>
                      <a:pPr algn="r" indent="0" marL="0">
                        <a:lnSpc>
                          <a:spcPts val="2100"/>
                        </a:lnSpc>
                        <a:buNone/>
                      </a:pPr>
                      <a:r>
                        <a:rPr lang="en-US" sz="1500" dirty="0">
                          <a:solidFill>
                            <a:srgbClr val="0E1033"/>
                          </a:solidFill>
                          <a:latin typeface="IBM Plex Sans" pitchFamily="34" charset="0"/>
                          <a:ea typeface="IBM Plex Sans" pitchFamily="34" charset="-122"/>
                          <a:cs typeface="IBM Plex Sans" pitchFamily="34" charset="-120"/>
                        </a:rPr>
                        <a:t>$306 / kW</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solidFill>
                      <a:srgbClr val="F4F5F9"/>
                    </a:solidFill>
                  </a:tcPr>
                </a:tc>
                <a:tc>
                  <a:txBody>
                    <a:bodyPr/>
                    <a:lstStyle/>
                    <a:p>
                      <a:pPr algn="r" indent="0" marL="0">
                        <a:lnSpc>
                          <a:spcPts val="2100"/>
                        </a:lnSpc>
                        <a:buNone/>
                      </a:pPr>
                      <a:r>
                        <a:rPr lang="en-US" sz="1500" dirty="0">
                          <a:solidFill>
                            <a:srgbClr val="0B7A55"/>
                          </a:solidFill>
                          <a:latin typeface="IBM Plex Sans" pitchFamily="34" charset="0"/>
                          <a:ea typeface="IBM Plex Sans" pitchFamily="34" charset="-122"/>
                          <a:cs typeface="IBM Plex Sans" pitchFamily="34" charset="-120"/>
                        </a:rPr>
                        <a:t>+25.6%</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solidFill>
                      <a:srgbClr val="F4F5F9"/>
                    </a:solidFill>
                  </a:tcPr>
                </a:tc>
              </a:tr>
            </a:tbl>
          </a:graphicData>
        </a:graphic>
      </p:graphicFrame>
      <p:sp>
        <p:nvSpPr>
          <p:cNvPr id="6" name="Shape 3"/>
          <p:cNvSpPr/>
          <p:nvPr/>
        </p:nvSpPr>
        <p:spPr>
          <a:xfrm>
            <a:off x="812800" y="4366419"/>
            <a:ext cx="5207000" cy="1475581"/>
          </a:xfrm>
          <a:prstGeom prst="rect">
            <a:avLst/>
          </a:prstGeom>
          <a:solidFill>
            <a:srgbClr val="F4F5F9"/>
          </a:solidFill>
          <a:ln/>
        </p:spPr>
      </p:sp>
      <p:sp>
        <p:nvSpPr>
          <p:cNvPr id="7" name="Shape 4"/>
          <p:cNvSpPr/>
          <p:nvPr/>
        </p:nvSpPr>
        <p:spPr>
          <a:xfrm>
            <a:off x="825500" y="4366419"/>
            <a:ext cx="0" cy="1475581"/>
          </a:xfrm>
          <a:prstGeom prst="line">
            <a:avLst/>
          </a:prstGeom>
          <a:noFill/>
          <a:ln w="25400">
            <a:solidFill>
              <a:srgbClr val="3A2BE0"/>
            </a:solidFill>
            <a:prstDash val="solid"/>
          </a:ln>
        </p:spPr>
      </p:sp>
      <p:sp>
        <p:nvSpPr>
          <p:cNvPr id="8" name="Text 5"/>
          <p:cNvSpPr/>
          <p:nvPr/>
        </p:nvSpPr>
        <p:spPr>
          <a:xfrm>
            <a:off x="1066800" y="4556919"/>
            <a:ext cx="4866132" cy="283170"/>
          </a:xfrm>
          <a:prstGeom prst="rect">
            <a:avLst/>
          </a:prstGeom>
          <a:noFill/>
          <a:ln/>
        </p:spPr>
        <p:txBody>
          <a:bodyPr wrap="square" lIns="0" tIns="0" rIns="0" bIns="0" rtlCol="0" anchor="t">
            <a:normAutofit/>
          </a:bodyPr>
          <a:lstStyle/>
          <a:p>
            <a:pPr algn="l" indent="0" marL="0">
              <a:lnSpc>
                <a:spcPts val="2030"/>
              </a:lnSpc>
              <a:buNone/>
            </a:pPr>
            <a:r>
              <a:rPr lang="en-US" sz="1450" b="1" dirty="0">
                <a:solidFill>
                  <a:srgbClr val="0E1033"/>
                </a:solidFill>
                <a:latin typeface="IBM Plex Sans" pitchFamily="34" charset="0"/>
                <a:ea typeface="IBM Plex Sans" pitchFamily="34" charset="-122"/>
                <a:cs typeface="IBM Plex Sans" pitchFamily="34" charset="-120"/>
              </a:rPr>
              <a:t>Guidance was raised, not just the quarter</a:t>
            </a:r>
            <a:endParaRPr lang="en-US" sz="1450" dirty="0"/>
          </a:p>
        </p:txBody>
      </p:sp>
      <p:sp>
        <p:nvSpPr>
          <p:cNvPr id="9" name="Text 6"/>
          <p:cNvSpPr/>
          <p:nvPr/>
        </p:nvSpPr>
        <p:spPr>
          <a:xfrm>
            <a:off x="1066800" y="4878189"/>
            <a:ext cx="4866132" cy="798711"/>
          </a:xfrm>
          <a:prstGeom prst="rect">
            <a:avLst/>
          </a:prstGeom>
          <a:noFill/>
          <a:ln/>
        </p:spPr>
        <p:txBody>
          <a:bodyPr wrap="square" lIns="0" tIns="0" rIns="0" bIns="0" rtlCol="0" anchor="t">
            <a:normAutofit/>
          </a:bodyPr>
          <a:lstStyle/>
          <a:p>
            <a:pPr algn="l" indent="0" marL="0">
              <a:lnSpc>
                <a:spcPts val="2030"/>
              </a:lnSpc>
              <a:buNone/>
            </a:pPr>
            <a:r>
              <a:rPr lang="en-US" sz="1450" dirty="0">
                <a:solidFill>
                  <a:srgbClr val="5B5E7D"/>
                </a:solidFill>
                <a:latin typeface="IBM Plex Sans" pitchFamily="34" charset="0"/>
                <a:ea typeface="IBM Plex Sans" pitchFamily="34" charset="-122"/>
                <a:cs typeface="IBM Plex Sans" pitchFamily="34" charset="-120"/>
              </a:rPr>
              <a:t>Full year renewal spread guidance went from 6.5% to 8.5%, up to 9.0% to 11.0%. One quarter can be mix. Raising the full year guide is a statement about the book.</a:t>
            </a:r>
            <a:endParaRPr lang="en-US" sz="1450" dirty="0"/>
          </a:p>
        </p:txBody>
      </p:sp>
      <p:sp>
        <p:nvSpPr>
          <p:cNvPr id="10" name="Shape 7"/>
          <p:cNvSpPr/>
          <p:nvPr/>
        </p:nvSpPr>
        <p:spPr>
          <a:xfrm>
            <a:off x="6172200" y="4366419"/>
            <a:ext cx="5207000" cy="1475581"/>
          </a:xfrm>
          <a:prstGeom prst="rect">
            <a:avLst/>
          </a:prstGeom>
          <a:solidFill>
            <a:srgbClr val="F4F5F9"/>
          </a:solidFill>
          <a:ln/>
        </p:spPr>
      </p:sp>
      <p:sp>
        <p:nvSpPr>
          <p:cNvPr id="11" name="Shape 8"/>
          <p:cNvSpPr/>
          <p:nvPr/>
        </p:nvSpPr>
        <p:spPr>
          <a:xfrm>
            <a:off x="6184900" y="4366419"/>
            <a:ext cx="0" cy="1475581"/>
          </a:xfrm>
          <a:prstGeom prst="line">
            <a:avLst/>
          </a:prstGeom>
          <a:noFill/>
          <a:ln w="25400">
            <a:solidFill>
              <a:srgbClr val="3A2BE0"/>
            </a:solidFill>
            <a:prstDash val="solid"/>
          </a:ln>
        </p:spPr>
      </p:sp>
      <p:sp>
        <p:nvSpPr>
          <p:cNvPr id="12" name="Text 9"/>
          <p:cNvSpPr/>
          <p:nvPr/>
        </p:nvSpPr>
        <p:spPr>
          <a:xfrm>
            <a:off x="6426200" y="4556919"/>
            <a:ext cx="4866132" cy="283170"/>
          </a:xfrm>
          <a:prstGeom prst="rect">
            <a:avLst/>
          </a:prstGeom>
          <a:noFill/>
          <a:ln/>
        </p:spPr>
        <p:txBody>
          <a:bodyPr wrap="square" lIns="0" tIns="0" rIns="0" bIns="0" rtlCol="0" anchor="t">
            <a:normAutofit/>
          </a:bodyPr>
          <a:lstStyle/>
          <a:p>
            <a:pPr algn="l" indent="0" marL="0">
              <a:lnSpc>
                <a:spcPts val="2030"/>
              </a:lnSpc>
              <a:buNone/>
            </a:pPr>
            <a:r>
              <a:rPr lang="en-US" sz="1450" b="1" dirty="0">
                <a:solidFill>
                  <a:srgbClr val="0E1033"/>
                </a:solidFill>
                <a:latin typeface="IBM Plex Sans" pitchFamily="34" charset="0"/>
                <a:ea typeface="IBM Plex Sans" pitchFamily="34" charset="-122"/>
                <a:cs typeface="IBM Plex Sans" pitchFamily="34" charset="-120"/>
              </a:rPr>
              <a:t>The book reprices quickly</a:t>
            </a:r>
            <a:endParaRPr lang="en-US" sz="1450" dirty="0"/>
          </a:p>
        </p:txBody>
      </p:sp>
      <p:sp>
        <p:nvSpPr>
          <p:cNvPr id="13" name="Text 10"/>
          <p:cNvSpPr/>
          <p:nvPr/>
        </p:nvSpPr>
        <p:spPr>
          <a:xfrm>
            <a:off x="6426200" y="4878189"/>
            <a:ext cx="4866132" cy="798711"/>
          </a:xfrm>
          <a:prstGeom prst="rect">
            <a:avLst/>
          </a:prstGeom>
          <a:noFill/>
          <a:ln/>
        </p:spPr>
        <p:txBody>
          <a:bodyPr wrap="square" lIns="0" tIns="0" rIns="0" bIns="0" rtlCol="0" anchor="t">
            <a:normAutofit/>
          </a:bodyPr>
          <a:lstStyle/>
          <a:p>
            <a:pPr algn="l" indent="0" marL="0">
              <a:lnSpc>
                <a:spcPts val="2030"/>
              </a:lnSpc>
              <a:buNone/>
            </a:pPr>
            <a:r>
              <a:rPr lang="en-US" sz="1450" dirty="0">
                <a:solidFill>
                  <a:srgbClr val="5B5E7D"/>
                </a:solidFill>
                <a:latin typeface="IBM Plex Sans" pitchFamily="34" charset="0"/>
                <a:ea typeface="IBM Plex Sans" pitchFamily="34" charset="-122"/>
                <a:cs typeface="IBM Plex Sans" pitchFamily="34" charset="-120"/>
              </a:rPr>
              <a:t>Average remaining lease term is about four years, so roughly a quarter of the rent roll comes up each year. Churn is low at 1.1% a quarter.</a:t>
            </a:r>
            <a:endParaRPr lang="en-US" sz="1450" dirty="0"/>
          </a:p>
        </p:txBody>
      </p:sp>
      <p:sp>
        <p:nvSpPr>
          <p:cNvPr id="14" name="Text 11"/>
          <p:cNvSpPr/>
          <p:nvPr/>
        </p:nvSpPr>
        <p:spPr>
          <a:xfrm>
            <a:off x="812800" y="6238280"/>
            <a:ext cx="532217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C8099"/>
                </a:solidFill>
                <a:latin typeface="IBM Plex Sans" pitchFamily="34" charset="0"/>
                <a:ea typeface="IBM Plex Sans" pitchFamily="34" charset="-122"/>
                <a:cs typeface="IBM Plex Sans" pitchFamily="34" charset="-120"/>
              </a:rPr>
              <a:t>Source: DLR 2Q26 supplement, leasing activity p.19; 2Q26 earnings release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23441"/>
          </a:xfrm>
          <a:prstGeom prst="rect">
            <a:avLst/>
          </a:prstGeom>
          <a:noFill/>
          <a:ln/>
        </p:spPr>
        <p:txBody>
          <a:bodyPr wrap="square" lIns="0" tIns="0" rIns="0" bIns="0" rtlCol="0" anchor="t">
            <a:normAutofit/>
          </a:bodyPr>
          <a:lstStyle/>
          <a:p>
            <a:pPr algn="l" indent="0" marL="0">
              <a:lnSpc>
                <a:spcPts val="1570"/>
              </a:lnSpc>
              <a:buNone/>
            </a:pPr>
            <a:r>
              <a:rPr lang="en-US" sz="1121" b="1" spc="150" kern="0" dirty="0">
                <a:solidFill>
                  <a:srgbClr val="3A2BE0"/>
                </a:solidFill>
                <a:latin typeface="IBM Plex Sans" pitchFamily="34" charset="0"/>
                <a:ea typeface="IBM Plex Sans" pitchFamily="34" charset="-122"/>
                <a:cs typeface="IBM Plex Sans" pitchFamily="34" charset="-120"/>
              </a:rPr>
              <a:t>PILLAR THREE</a:t>
            </a:r>
            <a:endParaRPr lang="en-US" sz="1121" dirty="0"/>
          </a:p>
        </p:txBody>
      </p:sp>
      <p:sp>
        <p:nvSpPr>
          <p:cNvPr id="3" name="Text 1"/>
          <p:cNvSpPr/>
          <p:nvPr/>
        </p:nvSpPr>
        <p:spPr>
          <a:xfrm>
            <a:off x="812800" y="1112441"/>
            <a:ext cx="10883392" cy="440382"/>
          </a:xfrm>
          <a:prstGeom prst="rect">
            <a:avLst/>
          </a:prstGeom>
          <a:noFill/>
          <a:ln/>
        </p:spPr>
        <p:txBody>
          <a:bodyPr wrap="square" lIns="0" tIns="0" rIns="0" bIns="0" rtlCol="0" anchor="t">
            <a:normAutofit/>
          </a:bodyPr>
          <a:lstStyle/>
          <a:p>
            <a:pPr algn="l" indent="0" marL="0">
              <a:lnSpc>
                <a:spcPts val="3267"/>
              </a:lnSpc>
              <a:buNone/>
            </a:pPr>
            <a:r>
              <a:rPr lang="en-US" sz="2970" b="1" dirty="0">
                <a:solidFill>
                  <a:srgbClr val="0E1033"/>
                </a:solidFill>
                <a:latin typeface="Rubik" pitchFamily="34" charset="0"/>
                <a:ea typeface="Rubik" pitchFamily="34" charset="-122"/>
                <a:cs typeface="Rubik" pitchFamily="34" charset="-120"/>
              </a:rPr>
              <a:t>Earning on the same land twice</a:t>
            </a:r>
            <a:endParaRPr lang="en-US" sz="2970" dirty="0"/>
          </a:p>
        </p:txBody>
      </p:sp>
      <p:sp>
        <p:nvSpPr>
          <p:cNvPr id="4" name="Text 2"/>
          <p:cNvSpPr/>
          <p:nvPr/>
        </p:nvSpPr>
        <p:spPr>
          <a:xfrm>
            <a:off x="812800" y="1629023"/>
            <a:ext cx="9287510" cy="538311"/>
          </a:xfrm>
          <a:prstGeom prst="rect">
            <a:avLst/>
          </a:prstGeom>
          <a:noFill/>
          <a:ln/>
        </p:spPr>
        <p:txBody>
          <a:bodyPr wrap="square" lIns="0" tIns="0" rIns="0" bIns="0" rtlCol="0" anchor="t">
            <a:normAutofit/>
          </a:bodyPr>
          <a:lstStyle/>
          <a:p>
            <a:pPr algn="l" indent="0" marL="0">
              <a:lnSpc>
                <a:spcPts val="2032"/>
              </a:lnSpc>
              <a:buNone/>
            </a:pPr>
            <a:r>
              <a:rPr lang="en-US" sz="1402" dirty="0">
                <a:solidFill>
                  <a:srgbClr val="5B5E7D"/>
                </a:solidFill>
                <a:latin typeface="IBM Plex Sans" pitchFamily="34" charset="0"/>
                <a:ea typeface="IBM Plex Sans" pitchFamily="34" charset="-122"/>
                <a:cs typeface="IBM Plex Sans" pitchFamily="34" charset="-120"/>
              </a:rPr>
              <a:t>DLR keeps a minority stake in large developments and raises the rest from institutional partners. It collects rent on what it owns and fees on what it manages.</a:t>
            </a:r>
            <a:endParaRPr lang="en-US" sz="1402"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12800" y="2141934"/>
          <a:ext cx="10566400" cy="2358231"/>
        </p:xfrm>
        <a:graphic>
          <a:graphicData uri="http://schemas.openxmlformats.org/drawingml/2006/table">
            <a:tbl>
              <a:tblPr/>
              <a:tblGrid>
                <a:gridCol w="2747264"/>
                <a:gridCol w="2113280"/>
                <a:gridCol w="5705856"/>
              </a:tblGrid>
              <a:tr h="422970">
                <a:tc>
                  <a:txBody>
                    <a:bodyPr/>
                    <a:lstStyle/>
                    <a:p>
                      <a:pPr indent="0" marL="0">
                        <a:lnSpc>
                          <a:spcPts val="1916"/>
                        </a:lnSpc>
                        <a:buNone/>
                      </a:pPr>
                      <a:r>
                        <a:rPr lang="en-US" sz="1368" b="1" dirty="0">
                          <a:solidFill>
                            <a:srgbClr val="0E1033"/>
                          </a:solidFill>
                          <a:latin typeface="IBM Plex Sans" pitchFamily="34" charset="0"/>
                          <a:ea typeface="IBM Plex Sans" pitchFamily="34" charset="-122"/>
                          <a:cs typeface="IBM Plex Sans" pitchFamily="34" charset="-120"/>
                        </a:rPr>
                        <a:t>2026 transaction</a:t>
                      </a:r>
                      <a:endParaRPr lang="en-US" sz="1368" dirty="0">
                        <a:latin typeface="IBM Plex Sans" charset="0"/>
                        <a:ea typeface="IBM Plex Sans" charset="0"/>
                        <a:cs typeface="IBM Plex Sans" charset="0"/>
                      </a:endParaRPr>
                    </a:p>
                  </a:txBody>
                  <a:tcPr marL="60827" marR="60827" marT="60827" marB="60827"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solidFill>
                      <a:srgbClr val="F4F5F9"/>
                    </a:solidFill>
                  </a:tcPr>
                </a:tc>
                <a:tc>
                  <a:txBody>
                    <a:bodyPr/>
                    <a:lstStyle/>
                    <a:p>
                      <a:pPr algn="r" indent="0" marL="0">
                        <a:lnSpc>
                          <a:spcPts val="1916"/>
                        </a:lnSpc>
                        <a:buNone/>
                      </a:pPr>
                      <a:r>
                        <a:rPr lang="en-US" sz="1368" b="1" dirty="0">
                          <a:solidFill>
                            <a:srgbClr val="0E1033"/>
                          </a:solidFill>
                          <a:latin typeface="IBM Plex Sans" pitchFamily="34" charset="0"/>
                          <a:ea typeface="IBM Plex Sans" pitchFamily="34" charset="-122"/>
                          <a:cs typeface="IBM Plex Sans" pitchFamily="34" charset="-120"/>
                        </a:rPr>
                        <a:t>Consideration</a:t>
                      </a:r>
                      <a:endParaRPr lang="en-US" sz="1368" dirty="0">
                        <a:latin typeface="IBM Plex Sans" charset="0"/>
                        <a:ea typeface="IBM Plex Sans" charset="0"/>
                        <a:cs typeface="IBM Plex Sans" charset="0"/>
                      </a:endParaRPr>
                    </a:p>
                  </a:txBody>
                  <a:tcPr marL="60827" marR="60827" marT="60827" marB="60827"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solidFill>
                      <a:srgbClr val="F4F5F9"/>
                    </a:solidFill>
                  </a:tcPr>
                </a:tc>
                <a:tc>
                  <a:txBody>
                    <a:bodyPr/>
                    <a:lstStyle/>
                    <a:p>
                      <a:pPr indent="0" marL="0">
                        <a:lnSpc>
                          <a:spcPts val="1916"/>
                        </a:lnSpc>
                        <a:buNone/>
                      </a:pPr>
                      <a:r>
                        <a:rPr lang="en-US" sz="1368" b="1" dirty="0">
                          <a:solidFill>
                            <a:srgbClr val="0E1033"/>
                          </a:solidFill>
                          <a:latin typeface="IBM Plex Sans" pitchFamily="34" charset="0"/>
                          <a:ea typeface="IBM Plex Sans" pitchFamily="34" charset="-122"/>
                          <a:cs typeface="IBM Plex Sans" pitchFamily="34" charset="-120"/>
                        </a:rPr>
                        <a:t>Rationale</a:t>
                      </a:r>
                      <a:endParaRPr lang="en-US" sz="1368" dirty="0">
                        <a:latin typeface="IBM Plex Sans" charset="0"/>
                        <a:ea typeface="IBM Plex Sans" charset="0"/>
                        <a:cs typeface="IBM Plex Sans" charset="0"/>
                      </a:endParaRPr>
                    </a:p>
                  </a:txBody>
                  <a:tcPr marL="60827" marR="60827" marT="60827" marB="60827"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solidFill>
                      <a:srgbClr val="F4F5F9"/>
                    </a:solidFill>
                  </a:tcPr>
                </a:tc>
              </a:tr>
              <a:tr h="422970">
                <a:tc>
                  <a:txBody>
                    <a:bodyPr/>
                    <a:lstStyle/>
                    <a:p>
                      <a:pPr indent="0" marL="0">
                        <a:lnSpc>
                          <a:spcPts val="1916"/>
                        </a:lnSpc>
                        <a:buNone/>
                      </a:pPr>
                      <a:r>
                        <a:rPr lang="en-US" sz="1368" dirty="0">
                          <a:solidFill>
                            <a:srgbClr val="0E1033"/>
                          </a:solidFill>
                          <a:latin typeface="IBM Plex Sans" pitchFamily="34" charset="0"/>
                          <a:ea typeface="IBM Plex Sans" pitchFamily="34" charset="-122"/>
                          <a:cs typeface="IBM Plex Sans" pitchFamily="34" charset="-120"/>
                        </a:rPr>
                        <a:t>Blackstone JV buy-in</a:t>
                      </a:r>
                      <a:endParaRPr lang="en-US" sz="1368" dirty="0">
                        <a:latin typeface="IBM Plex Sans" charset="0"/>
                        <a:ea typeface="IBM Plex Sans" charset="0"/>
                        <a:cs typeface="IBM Plex Sans" charset="0"/>
                      </a:endParaRPr>
                    </a:p>
                  </a:txBody>
                  <a:tcPr marL="60827" marR="60827" marT="60827" marB="60827"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tcPr>
                </a:tc>
                <a:tc>
                  <a:txBody>
                    <a:bodyPr/>
                    <a:lstStyle/>
                    <a:p>
                      <a:pPr algn="r" indent="0" marL="0">
                        <a:lnSpc>
                          <a:spcPts val="1916"/>
                        </a:lnSpc>
                        <a:buNone/>
                      </a:pPr>
                      <a:r>
                        <a:rPr lang="en-US" sz="1368" dirty="0">
                          <a:solidFill>
                            <a:srgbClr val="0E1033"/>
                          </a:solidFill>
                          <a:latin typeface="IBM Plex Sans" pitchFamily="34" charset="0"/>
                          <a:ea typeface="IBM Plex Sans" pitchFamily="34" charset="-122"/>
                          <a:cs typeface="IBM Plex Sans" pitchFamily="34" charset="-120"/>
                        </a:rPr>
                        <a:t>$3.5bn</a:t>
                      </a:r>
                      <a:endParaRPr lang="en-US" sz="1368" dirty="0">
                        <a:latin typeface="IBM Plex Sans" charset="0"/>
                        <a:ea typeface="IBM Plex Sans" charset="0"/>
                        <a:cs typeface="IBM Plex Sans" charset="0"/>
                      </a:endParaRPr>
                    </a:p>
                  </a:txBody>
                  <a:tcPr marL="60827" marR="60827" marT="60827" marB="60827"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tcPr>
                </a:tc>
                <a:tc>
                  <a:txBody>
                    <a:bodyPr/>
                    <a:lstStyle/>
                    <a:p>
                      <a:pPr indent="0" marL="0">
                        <a:lnSpc>
                          <a:spcPts val="1916"/>
                        </a:lnSpc>
                        <a:buNone/>
                      </a:pPr>
                      <a:r>
                        <a:rPr lang="en-US" sz="1368" dirty="0">
                          <a:solidFill>
                            <a:srgbClr val="0E1033"/>
                          </a:solidFill>
                          <a:latin typeface="IBM Plex Sans" pitchFamily="34" charset="0"/>
                          <a:ea typeface="IBM Plex Sans" pitchFamily="34" charset="-122"/>
                          <a:cs typeface="IBM Plex Sans" pitchFamily="34" charset="-120"/>
                        </a:rPr>
                        <a:t>Full ownership of three leased Northern Virginia data centers, 288 MW</a:t>
                      </a:r>
                      <a:endParaRPr lang="en-US" sz="1368" dirty="0">
                        <a:latin typeface="IBM Plex Sans" charset="0"/>
                        <a:ea typeface="IBM Plex Sans" charset="0"/>
                        <a:cs typeface="IBM Plex Sans" charset="0"/>
                      </a:endParaRPr>
                    </a:p>
                  </a:txBody>
                  <a:tcPr marL="60827" marR="60827" marT="60827" marB="60827"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tcPr>
                </a:tc>
              </a:tr>
              <a:tr h="422970">
                <a:tc>
                  <a:txBody>
                    <a:bodyPr/>
                    <a:lstStyle/>
                    <a:p>
                      <a:pPr indent="0" marL="0">
                        <a:lnSpc>
                          <a:spcPts val="1916"/>
                        </a:lnSpc>
                        <a:buNone/>
                      </a:pPr>
                      <a:r>
                        <a:rPr lang="en-US" sz="1368" dirty="0">
                          <a:solidFill>
                            <a:srgbClr val="0E1033"/>
                          </a:solidFill>
                          <a:latin typeface="IBM Plex Sans" pitchFamily="34" charset="0"/>
                          <a:ea typeface="IBM Plex Sans" pitchFamily="34" charset="-122"/>
                          <a:cs typeface="IBM Plex Sans" pitchFamily="34" charset="-120"/>
                        </a:rPr>
                        <a:t>Teraco step-up</a:t>
                      </a:r>
                      <a:endParaRPr lang="en-US" sz="1368" dirty="0">
                        <a:latin typeface="IBM Plex Sans" charset="0"/>
                        <a:ea typeface="IBM Plex Sans" charset="0"/>
                        <a:cs typeface="IBM Plex Sans" charset="0"/>
                      </a:endParaRPr>
                    </a:p>
                  </a:txBody>
                  <a:tcPr marL="60827" marR="60827" marT="60827" marB="60827"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tcPr>
                </a:tc>
                <a:tc>
                  <a:txBody>
                    <a:bodyPr/>
                    <a:lstStyle/>
                    <a:p>
                      <a:pPr algn="r" indent="0" marL="0">
                        <a:lnSpc>
                          <a:spcPts val="1916"/>
                        </a:lnSpc>
                        <a:buNone/>
                      </a:pPr>
                      <a:r>
                        <a:rPr lang="en-US" sz="1368" dirty="0">
                          <a:solidFill>
                            <a:srgbClr val="0E1033"/>
                          </a:solidFill>
                          <a:latin typeface="IBM Plex Sans" pitchFamily="34" charset="0"/>
                          <a:ea typeface="IBM Plex Sans" pitchFamily="34" charset="-122"/>
                          <a:cs typeface="IBM Plex Sans" pitchFamily="34" charset="-120"/>
                        </a:rPr>
                        <a:t>3.4m shares</a:t>
                      </a:r>
                      <a:endParaRPr lang="en-US" sz="1368" dirty="0">
                        <a:latin typeface="IBM Plex Sans" charset="0"/>
                        <a:ea typeface="IBM Plex Sans" charset="0"/>
                        <a:cs typeface="IBM Plex Sans" charset="0"/>
                      </a:endParaRPr>
                    </a:p>
                  </a:txBody>
                  <a:tcPr marL="60827" marR="60827" marT="60827" marB="60827"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tcPr>
                </a:tc>
                <a:tc>
                  <a:txBody>
                    <a:bodyPr/>
                    <a:lstStyle/>
                    <a:p>
                      <a:pPr indent="0" marL="0">
                        <a:lnSpc>
                          <a:spcPts val="1916"/>
                        </a:lnSpc>
                        <a:buNone/>
                      </a:pPr>
                      <a:r>
                        <a:rPr lang="en-US" sz="1368" dirty="0">
                          <a:solidFill>
                            <a:srgbClr val="0E1033"/>
                          </a:solidFill>
                          <a:latin typeface="IBM Plex Sans" pitchFamily="34" charset="0"/>
                          <a:ea typeface="IBM Plex Sans" pitchFamily="34" charset="-122"/>
                          <a:cs typeface="IBM Plex Sans" pitchFamily="34" charset="-120"/>
                        </a:rPr>
                        <a:t>Stake in the largest African platform raised from 61% to 77%</a:t>
                      </a:r>
                      <a:endParaRPr lang="en-US" sz="1368" dirty="0">
                        <a:latin typeface="IBM Plex Sans" charset="0"/>
                        <a:ea typeface="IBM Plex Sans" charset="0"/>
                        <a:cs typeface="IBM Plex Sans" charset="0"/>
                      </a:endParaRPr>
                    </a:p>
                  </a:txBody>
                  <a:tcPr marL="60827" marR="60827" marT="60827" marB="60827"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tcPr>
                </a:tc>
              </a:tr>
              <a:tr h="666304">
                <a:tc>
                  <a:txBody>
                    <a:bodyPr/>
                    <a:lstStyle/>
                    <a:p>
                      <a:pPr indent="0" marL="0">
                        <a:lnSpc>
                          <a:spcPts val="1916"/>
                        </a:lnSpc>
                        <a:buNone/>
                      </a:pPr>
                      <a:r>
                        <a:rPr lang="en-US" sz="1368" dirty="0">
                          <a:solidFill>
                            <a:srgbClr val="0E1033"/>
                          </a:solidFill>
                          <a:latin typeface="IBM Plex Sans" pitchFamily="34" charset="0"/>
                          <a:ea typeface="IBM Plex Sans" pitchFamily="34" charset="-122"/>
                          <a:cs typeface="IBM Plex Sans" pitchFamily="34" charset="-120"/>
                        </a:rPr>
                        <a:t>Columbia Capital</a:t>
                      </a:r>
                      <a:endParaRPr lang="en-US" sz="1368" dirty="0">
                        <a:latin typeface="IBM Plex Sans" charset="0"/>
                        <a:ea typeface="IBM Plex Sans" charset="0"/>
                        <a:cs typeface="IBM Plex Sans" charset="0"/>
                      </a:endParaRPr>
                    </a:p>
                  </a:txBody>
                  <a:tcPr marL="60827" marR="60827" marT="60827" marB="60827"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tcPr>
                </a:tc>
                <a:tc>
                  <a:txBody>
                    <a:bodyPr/>
                    <a:lstStyle/>
                    <a:p>
                      <a:pPr algn="r" indent="0" marL="0">
                        <a:lnSpc>
                          <a:spcPts val="1916"/>
                        </a:lnSpc>
                        <a:buNone/>
                      </a:pPr>
                      <a:r>
                        <a:rPr lang="en-US" sz="1368" dirty="0">
                          <a:solidFill>
                            <a:srgbClr val="0E1033"/>
                          </a:solidFill>
                          <a:latin typeface="IBM Plex Sans" pitchFamily="34" charset="0"/>
                          <a:ea typeface="IBM Plex Sans" pitchFamily="34" charset="-122"/>
                          <a:cs typeface="IBM Plex Sans" pitchFamily="34" charset="-120"/>
                        </a:rPr>
                        <a:t>$485m</a:t>
                      </a:r>
                      <a:endParaRPr lang="en-US" sz="1368" dirty="0">
                        <a:latin typeface="IBM Plex Sans" charset="0"/>
                        <a:ea typeface="IBM Plex Sans" charset="0"/>
                        <a:cs typeface="IBM Plex Sans" charset="0"/>
                      </a:endParaRPr>
                    </a:p>
                  </a:txBody>
                  <a:tcPr marL="60827" marR="60827" marT="60827" marB="60827"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tcPr>
                </a:tc>
                <a:tc>
                  <a:txBody>
                    <a:bodyPr/>
                    <a:lstStyle/>
                    <a:p>
                      <a:pPr indent="0" marL="0">
                        <a:lnSpc>
                          <a:spcPts val="1916"/>
                        </a:lnSpc>
                        <a:buNone/>
                      </a:pPr>
                      <a:r>
                        <a:rPr lang="en-US" sz="1368" dirty="0">
                          <a:solidFill>
                            <a:srgbClr val="0E1033"/>
                          </a:solidFill>
                          <a:latin typeface="IBM Plex Sans" pitchFamily="34" charset="0"/>
                          <a:ea typeface="IBM Plex Sans" pitchFamily="34" charset="-122"/>
                          <a:cs typeface="IBM Plex Sans" pitchFamily="34" charset="-120"/>
                        </a:rPr>
                        <a:t>Adds an investment manager with $9bn of committed institutional capital</a:t>
                      </a:r>
                      <a:endParaRPr lang="en-US" sz="1368" dirty="0">
                        <a:latin typeface="IBM Plex Sans" charset="0"/>
                        <a:ea typeface="IBM Plex Sans" charset="0"/>
                        <a:cs typeface="IBM Plex Sans" charset="0"/>
                      </a:endParaRPr>
                    </a:p>
                  </a:txBody>
                  <a:tcPr marL="60827" marR="60827" marT="60827" marB="60827"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tcPr>
                </a:tc>
              </a:tr>
              <a:tr h="423019">
                <a:tc>
                  <a:txBody>
                    <a:bodyPr/>
                    <a:lstStyle/>
                    <a:p>
                      <a:pPr indent="0" marL="0">
                        <a:lnSpc>
                          <a:spcPts val="1916"/>
                        </a:lnSpc>
                        <a:buNone/>
                      </a:pPr>
                      <a:r>
                        <a:rPr lang="en-US" sz="1368" dirty="0">
                          <a:solidFill>
                            <a:srgbClr val="0E1033"/>
                          </a:solidFill>
                          <a:latin typeface="IBM Plex Sans" pitchFamily="34" charset="0"/>
                          <a:ea typeface="IBM Plex Sans" pitchFamily="34" charset="-122"/>
                          <a:cs typeface="IBM Plex Sans" pitchFamily="34" charset="-120"/>
                        </a:rPr>
                        <a:t>Kansas City land</a:t>
                      </a:r>
                      <a:endParaRPr lang="en-US" sz="1368" dirty="0">
                        <a:latin typeface="IBM Plex Sans" charset="0"/>
                        <a:ea typeface="IBM Plex Sans" charset="0"/>
                        <a:cs typeface="IBM Plex Sans" charset="0"/>
                      </a:endParaRPr>
                    </a:p>
                  </a:txBody>
                  <a:tcPr marL="60827" marR="60827" marT="60827" marB="60827"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tcPr>
                </a:tc>
                <a:tc>
                  <a:txBody>
                    <a:bodyPr/>
                    <a:lstStyle/>
                    <a:p>
                      <a:pPr algn="r" indent="0" marL="0">
                        <a:lnSpc>
                          <a:spcPts val="1916"/>
                        </a:lnSpc>
                        <a:buNone/>
                      </a:pPr>
                      <a:r>
                        <a:rPr lang="en-US" sz="1368" dirty="0">
                          <a:solidFill>
                            <a:srgbClr val="0E1033"/>
                          </a:solidFill>
                          <a:latin typeface="IBM Plex Sans" pitchFamily="34" charset="0"/>
                          <a:ea typeface="IBM Plex Sans" pitchFamily="34" charset="-122"/>
                          <a:cs typeface="IBM Plex Sans" pitchFamily="34" charset="-120"/>
                        </a:rPr>
                        <a:t>$475m</a:t>
                      </a:r>
                      <a:endParaRPr lang="en-US" sz="1368" dirty="0">
                        <a:latin typeface="IBM Plex Sans" charset="0"/>
                        <a:ea typeface="IBM Plex Sans" charset="0"/>
                        <a:cs typeface="IBM Plex Sans" charset="0"/>
                      </a:endParaRPr>
                    </a:p>
                  </a:txBody>
                  <a:tcPr marL="60827" marR="60827" marT="60827" marB="60827"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tcPr>
                </a:tc>
                <a:tc>
                  <a:txBody>
                    <a:bodyPr/>
                    <a:lstStyle/>
                    <a:p>
                      <a:pPr indent="0" marL="0">
                        <a:lnSpc>
                          <a:spcPts val="1916"/>
                        </a:lnSpc>
                        <a:buNone/>
                      </a:pPr>
                      <a:r>
                        <a:rPr lang="en-US" sz="1368" dirty="0">
                          <a:solidFill>
                            <a:srgbClr val="0E1033"/>
                          </a:solidFill>
                          <a:latin typeface="IBM Plex Sans" pitchFamily="34" charset="0"/>
                          <a:ea typeface="IBM Plex Sans" pitchFamily="34" charset="-122"/>
                          <a:cs typeface="IBM Plex Sans" pitchFamily="34" charset="-120"/>
                        </a:rPr>
                        <a:t>1,440 acres with utility commitment, 2 GW at full build</a:t>
                      </a:r>
                      <a:endParaRPr lang="en-US" sz="1368" dirty="0">
                        <a:latin typeface="IBM Plex Sans" charset="0"/>
                        <a:ea typeface="IBM Plex Sans" charset="0"/>
                        <a:cs typeface="IBM Plex Sans" charset="0"/>
                      </a:endParaRPr>
                    </a:p>
                  </a:txBody>
                  <a:tcPr marL="60827" marR="60827" marT="60827" marB="60827"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tcPr>
                </a:tc>
              </a:tr>
            </a:tbl>
          </a:graphicData>
        </a:graphic>
      </p:graphicFrame>
      <p:sp>
        <p:nvSpPr>
          <p:cNvPr id="6" name="Shape 3"/>
          <p:cNvSpPr/>
          <p:nvPr/>
        </p:nvSpPr>
        <p:spPr>
          <a:xfrm>
            <a:off x="815975" y="4516041"/>
            <a:ext cx="7105650" cy="1322784"/>
          </a:xfrm>
          <a:prstGeom prst="rect">
            <a:avLst/>
          </a:prstGeom>
          <a:noFill/>
          <a:ln w="6350">
            <a:solidFill>
              <a:srgbClr val="D8DAE5"/>
            </a:solidFill>
            <a:prstDash val="solid"/>
          </a:ln>
        </p:spPr>
      </p:sp>
      <p:sp>
        <p:nvSpPr>
          <p:cNvPr id="7" name="Text 4"/>
          <p:cNvSpPr/>
          <p:nvPr/>
        </p:nvSpPr>
        <p:spPr>
          <a:xfrm>
            <a:off x="1047750" y="4709716"/>
            <a:ext cx="6841363" cy="258862"/>
          </a:xfrm>
          <a:prstGeom prst="rect">
            <a:avLst/>
          </a:prstGeom>
          <a:noFill/>
          <a:ln/>
        </p:spPr>
        <p:txBody>
          <a:bodyPr wrap="square" lIns="0" tIns="0" rIns="0" bIns="0" rtlCol="0" anchor="t">
            <a:normAutofit/>
          </a:bodyPr>
          <a:lstStyle/>
          <a:p>
            <a:pPr algn="l" indent="0" marL="0">
              <a:lnSpc>
                <a:spcPts val="1871"/>
              </a:lnSpc>
              <a:buNone/>
            </a:pPr>
            <a:r>
              <a:rPr lang="en-US" sz="1337" b="1" dirty="0">
                <a:solidFill>
                  <a:srgbClr val="0E1033"/>
                </a:solidFill>
                <a:latin typeface="IBM Plex Sans" pitchFamily="34" charset="0"/>
                <a:ea typeface="IBM Plex Sans" pitchFamily="34" charset="-122"/>
                <a:cs typeface="IBM Plex Sans" pitchFamily="34" charset="-120"/>
              </a:rPr>
              <a:t>Fee income as a share of revenue</a:t>
            </a:r>
            <a:endParaRPr lang="en-US" sz="1337" dirty="0"/>
          </a:p>
        </p:txBody>
      </p:sp>
      <p:sp>
        <p:nvSpPr>
          <p:cNvPr id="8" name="Text 5"/>
          <p:cNvSpPr/>
          <p:nvPr/>
        </p:nvSpPr>
        <p:spPr>
          <a:xfrm>
            <a:off x="1047750" y="5071120"/>
            <a:ext cx="786557" cy="342900"/>
          </a:xfrm>
          <a:prstGeom prst="rect">
            <a:avLst/>
          </a:prstGeom>
          <a:noFill/>
          <a:ln/>
        </p:spPr>
        <p:txBody>
          <a:bodyPr wrap="square" lIns="0" tIns="0" rIns="0" bIns="0" rtlCol="0" anchor="t">
            <a:normAutofit/>
          </a:bodyPr>
          <a:lstStyle/>
          <a:p>
            <a:pPr algn="l" indent="0" marL="0">
              <a:lnSpc>
                <a:spcPts val="2500"/>
              </a:lnSpc>
              <a:buNone/>
            </a:pPr>
            <a:r>
              <a:rPr lang="en-US" sz="2500" b="1" dirty="0">
                <a:solidFill>
                  <a:srgbClr val="5B5E7D"/>
                </a:solidFill>
                <a:latin typeface="Rubik" pitchFamily="34" charset="0"/>
                <a:ea typeface="Rubik" pitchFamily="34" charset="-122"/>
                <a:cs typeface="Rubik" pitchFamily="34" charset="-120"/>
              </a:rPr>
              <a:t>0.9%</a:t>
            </a:r>
            <a:endParaRPr lang="en-US" sz="2500" dirty="0"/>
          </a:p>
        </p:txBody>
      </p:sp>
      <p:sp>
        <p:nvSpPr>
          <p:cNvPr id="9" name="Text 6"/>
          <p:cNvSpPr/>
          <p:nvPr/>
        </p:nvSpPr>
        <p:spPr>
          <a:xfrm>
            <a:off x="1047750" y="5414020"/>
            <a:ext cx="786557"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B5E7D"/>
                </a:solidFill>
                <a:latin typeface="IBM Plex Sans" pitchFamily="34" charset="0"/>
                <a:ea typeface="IBM Plex Sans" pitchFamily="34" charset="-122"/>
                <a:cs typeface="IBM Plex Sans" pitchFamily="34" charset="-120"/>
              </a:rPr>
              <a:t>FY23</a:t>
            </a:r>
            <a:endParaRPr lang="en-US" sz="1300" dirty="0"/>
          </a:p>
        </p:txBody>
      </p:sp>
      <p:sp>
        <p:nvSpPr>
          <p:cNvPr id="10" name="Text 7"/>
          <p:cNvSpPr/>
          <p:nvPr/>
        </p:nvSpPr>
        <p:spPr>
          <a:xfrm>
            <a:off x="2139107" y="5071120"/>
            <a:ext cx="747564" cy="342900"/>
          </a:xfrm>
          <a:prstGeom prst="rect">
            <a:avLst/>
          </a:prstGeom>
          <a:noFill/>
          <a:ln/>
        </p:spPr>
        <p:txBody>
          <a:bodyPr wrap="square" lIns="0" tIns="0" rIns="0" bIns="0" rtlCol="0" anchor="t">
            <a:normAutofit/>
          </a:bodyPr>
          <a:lstStyle/>
          <a:p>
            <a:pPr algn="l" indent="0" marL="0">
              <a:lnSpc>
                <a:spcPts val="2500"/>
              </a:lnSpc>
              <a:buNone/>
            </a:pPr>
            <a:r>
              <a:rPr lang="en-US" sz="2500" b="1" dirty="0">
                <a:solidFill>
                  <a:srgbClr val="5B5E7D"/>
                </a:solidFill>
                <a:latin typeface="Rubik" pitchFamily="34" charset="0"/>
                <a:ea typeface="Rubik" pitchFamily="34" charset="-122"/>
                <a:cs typeface="Rubik" pitchFamily="34" charset="-120"/>
              </a:rPr>
              <a:t>1.3%</a:t>
            </a:r>
            <a:endParaRPr lang="en-US" sz="2500" dirty="0"/>
          </a:p>
        </p:txBody>
      </p:sp>
      <p:sp>
        <p:nvSpPr>
          <p:cNvPr id="11" name="Text 8"/>
          <p:cNvSpPr/>
          <p:nvPr/>
        </p:nvSpPr>
        <p:spPr>
          <a:xfrm>
            <a:off x="2139107" y="5414020"/>
            <a:ext cx="747564"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B5E7D"/>
                </a:solidFill>
                <a:latin typeface="IBM Plex Sans" pitchFamily="34" charset="0"/>
                <a:ea typeface="IBM Plex Sans" pitchFamily="34" charset="-122"/>
                <a:cs typeface="IBM Plex Sans" pitchFamily="34" charset="-120"/>
              </a:rPr>
              <a:t>FY24</a:t>
            </a:r>
            <a:endParaRPr lang="en-US" sz="1300" dirty="0"/>
          </a:p>
        </p:txBody>
      </p:sp>
      <p:sp>
        <p:nvSpPr>
          <p:cNvPr id="12" name="Text 9"/>
          <p:cNvSpPr/>
          <p:nvPr/>
        </p:nvSpPr>
        <p:spPr>
          <a:xfrm>
            <a:off x="3191470" y="4982220"/>
            <a:ext cx="1010741"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3A2BE0"/>
                </a:solidFill>
                <a:latin typeface="Rubik" pitchFamily="34" charset="0"/>
                <a:ea typeface="Rubik" pitchFamily="34" charset="-122"/>
                <a:cs typeface="Rubik" pitchFamily="34" charset="-120"/>
              </a:rPr>
              <a:t>2.4%</a:t>
            </a:r>
            <a:endParaRPr lang="en-US" sz="3200" dirty="0"/>
          </a:p>
        </p:txBody>
      </p:sp>
      <p:sp>
        <p:nvSpPr>
          <p:cNvPr id="13" name="Text 10"/>
          <p:cNvSpPr/>
          <p:nvPr/>
        </p:nvSpPr>
        <p:spPr>
          <a:xfrm>
            <a:off x="3191470" y="5414020"/>
            <a:ext cx="1010741"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2BE0"/>
                </a:solidFill>
                <a:latin typeface="IBM Plex Sans" pitchFamily="34" charset="0"/>
                <a:ea typeface="IBM Plex Sans" pitchFamily="34" charset="-122"/>
                <a:cs typeface="IBM Plex Sans" pitchFamily="34" charset="-120"/>
              </a:rPr>
              <a:t>FY25</a:t>
            </a:r>
            <a:endParaRPr lang="en-US" sz="1300" dirty="0"/>
          </a:p>
        </p:txBody>
      </p:sp>
      <p:sp>
        <p:nvSpPr>
          <p:cNvPr id="14" name="Text 11"/>
          <p:cNvSpPr/>
          <p:nvPr/>
        </p:nvSpPr>
        <p:spPr>
          <a:xfrm>
            <a:off x="4507012" y="5182295"/>
            <a:ext cx="2158365" cy="488255"/>
          </a:xfrm>
          <a:prstGeom prst="rect">
            <a:avLst/>
          </a:prstGeom>
          <a:noFill/>
          <a:ln/>
        </p:spPr>
        <p:txBody>
          <a:bodyPr wrap="square" lIns="0" tIns="0" rIns="0" bIns="0" rtlCol="0" anchor="t">
            <a:normAutofit/>
          </a:bodyPr>
          <a:lstStyle/>
          <a:p>
            <a:pPr algn="l" indent="0" marL="0">
              <a:lnSpc>
                <a:spcPts val="1823"/>
              </a:lnSpc>
              <a:buNone/>
            </a:pPr>
            <a:r>
              <a:rPr lang="en-US" sz="1350" dirty="0">
                <a:solidFill>
                  <a:srgbClr val="5B5E7D"/>
                </a:solidFill>
                <a:latin typeface="IBM Plex Sans" pitchFamily="34" charset="0"/>
                <a:ea typeface="IBM Plex Sans" pitchFamily="34" charset="-122"/>
                <a:cs typeface="IBM Plex Sans" pitchFamily="34" charset="-120"/>
              </a:rPr>
              <a:t>Tripled in dollar terms over two years, to $144m</a:t>
            </a:r>
            <a:endParaRPr lang="en-US" sz="1350" dirty="0"/>
          </a:p>
        </p:txBody>
      </p:sp>
      <p:sp>
        <p:nvSpPr>
          <p:cNvPr id="15" name="Shape 12"/>
          <p:cNvSpPr/>
          <p:nvPr/>
        </p:nvSpPr>
        <p:spPr>
          <a:xfrm>
            <a:off x="8077200" y="4512866"/>
            <a:ext cx="3302000" cy="1329134"/>
          </a:xfrm>
          <a:prstGeom prst="rect">
            <a:avLst/>
          </a:prstGeom>
          <a:solidFill>
            <a:srgbClr val="F4F5F9"/>
          </a:solidFill>
          <a:ln/>
        </p:spPr>
      </p:sp>
      <p:sp>
        <p:nvSpPr>
          <p:cNvPr id="16" name="Shape 13"/>
          <p:cNvSpPr/>
          <p:nvPr/>
        </p:nvSpPr>
        <p:spPr>
          <a:xfrm>
            <a:off x="8089900" y="4512866"/>
            <a:ext cx="0" cy="1329134"/>
          </a:xfrm>
          <a:prstGeom prst="line">
            <a:avLst/>
          </a:prstGeom>
          <a:noFill/>
          <a:ln w="25400">
            <a:solidFill>
              <a:srgbClr val="3A2BE0"/>
            </a:solidFill>
            <a:prstDash val="solid"/>
          </a:ln>
        </p:spPr>
      </p:sp>
      <p:sp>
        <p:nvSpPr>
          <p:cNvPr id="17" name="Text 14"/>
          <p:cNvSpPr/>
          <p:nvPr/>
        </p:nvSpPr>
        <p:spPr>
          <a:xfrm>
            <a:off x="8331200" y="4703366"/>
            <a:ext cx="2903982" cy="422325"/>
          </a:xfrm>
          <a:prstGeom prst="rect">
            <a:avLst/>
          </a:prstGeom>
          <a:noFill/>
          <a:ln/>
        </p:spPr>
        <p:txBody>
          <a:bodyPr wrap="square" lIns="0" tIns="0" rIns="0" bIns="0" rtlCol="0" anchor="t">
            <a:normAutofit/>
          </a:bodyPr>
          <a:lstStyle/>
          <a:p>
            <a:pPr algn="l" indent="0" marL="0">
              <a:lnSpc>
                <a:spcPts val="3170"/>
              </a:lnSpc>
              <a:buNone/>
            </a:pPr>
            <a:r>
              <a:rPr lang="en-US" sz="2882" b="1" dirty="0">
                <a:solidFill>
                  <a:srgbClr val="0E1033"/>
                </a:solidFill>
                <a:latin typeface="Rubik" pitchFamily="34" charset="0"/>
                <a:ea typeface="Rubik" pitchFamily="34" charset="-122"/>
                <a:cs typeface="Rubik" pitchFamily="34" charset="-120"/>
              </a:rPr>
              <a:t>$10bn</a:t>
            </a:r>
            <a:endParaRPr lang="en-US" sz="2882" dirty="0"/>
          </a:p>
        </p:txBody>
      </p:sp>
      <p:sp>
        <p:nvSpPr>
          <p:cNvPr id="18" name="Text 15"/>
          <p:cNvSpPr/>
          <p:nvPr/>
        </p:nvSpPr>
        <p:spPr>
          <a:xfrm>
            <a:off x="8331200" y="5163790"/>
            <a:ext cx="2903982" cy="513110"/>
          </a:xfrm>
          <a:prstGeom prst="rect">
            <a:avLst/>
          </a:prstGeom>
          <a:noFill/>
          <a:ln/>
        </p:spPr>
        <p:txBody>
          <a:bodyPr wrap="square" lIns="0" tIns="0" rIns="0" bIns="0" rtlCol="0" anchor="t">
            <a:normAutofit/>
          </a:bodyPr>
          <a:lstStyle/>
          <a:p>
            <a:pPr algn="l" indent="0" marL="0">
              <a:lnSpc>
                <a:spcPts val="1936"/>
              </a:lnSpc>
              <a:buNone/>
            </a:pPr>
            <a:r>
              <a:rPr lang="en-US" sz="1383" dirty="0">
                <a:solidFill>
                  <a:srgbClr val="5B5E7D"/>
                </a:solidFill>
                <a:latin typeface="IBM Plex Sans" pitchFamily="34" charset="0"/>
                <a:ea typeface="IBM Plex Sans" pitchFamily="34" charset="-122"/>
                <a:cs typeface="IBM Plex Sans" pitchFamily="34" charset="-120"/>
              </a:rPr>
              <a:t>of third party capital already committed and available to deploy</a:t>
            </a:r>
            <a:endParaRPr lang="en-US" sz="1383" dirty="0"/>
          </a:p>
        </p:txBody>
      </p:sp>
      <p:sp>
        <p:nvSpPr>
          <p:cNvPr id="19" name="Text 16"/>
          <p:cNvSpPr/>
          <p:nvPr/>
        </p:nvSpPr>
        <p:spPr>
          <a:xfrm>
            <a:off x="812800" y="6238280"/>
            <a:ext cx="51592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C8099"/>
                </a:solidFill>
                <a:latin typeface="IBM Plex Sans" pitchFamily="34" charset="0"/>
                <a:ea typeface="IBM Plex Sans" pitchFamily="34" charset="-122"/>
                <a:cs typeface="IBM Plex Sans" pitchFamily="34" charset="-120"/>
              </a:rPr>
              <a:t>Source: DLR 2026 press releases; FY2025 Form 10-K; 1Q26 earnings call</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A2BE0"/>
                </a:solidFill>
                <a:latin typeface="IBM Plex Sans" pitchFamily="34" charset="0"/>
                <a:ea typeface="IBM Plex Sans" pitchFamily="34" charset="-122"/>
                <a:cs typeface="IBM Plex Sans" pitchFamily="34" charset="-120"/>
              </a:rPr>
              <a:t>EARNINGS VISIBILITY</a:t>
            </a:r>
            <a:endParaRPr lang="en-US" sz="1200" dirty="0"/>
          </a:p>
        </p:txBody>
      </p:sp>
      <p:sp>
        <p:nvSpPr>
          <p:cNvPr id="3" name="Text 1"/>
          <p:cNvSpPr/>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0E1033"/>
                </a:solidFill>
                <a:latin typeface="Rubik" pitchFamily="34" charset="0"/>
                <a:ea typeface="Rubik" pitchFamily="34" charset="-122"/>
                <a:cs typeface="Rubik" pitchFamily="34" charset="-120"/>
              </a:rPr>
              <a:t>Next year's growth is already contracted</a:t>
            </a:r>
            <a:endParaRPr lang="en-US" sz="3200" dirty="0"/>
          </a:p>
        </p:txBody>
      </p:sp>
      <p:sp>
        <p:nvSpPr>
          <p:cNvPr id="4" name="Text 2"/>
          <p:cNvSpPr/>
          <p:nvPr/>
        </p:nvSpPr>
        <p:spPr>
          <a:xfrm>
            <a:off x="812800" y="2080667"/>
            <a:ext cx="4709160" cy="609600"/>
          </a:xfrm>
          <a:prstGeom prst="rect">
            <a:avLst/>
          </a:prstGeom>
          <a:noFill/>
          <a:ln/>
        </p:spPr>
        <p:txBody>
          <a:bodyPr wrap="square" lIns="0" tIns="0" rIns="0" bIns="0" rtlCol="0" anchor="t">
            <a:normAutofit/>
          </a:bodyPr>
          <a:lstStyle/>
          <a:p>
            <a:pPr algn="l" indent="0" marL="0">
              <a:lnSpc>
                <a:spcPts val="4600"/>
              </a:lnSpc>
              <a:buNone/>
            </a:pPr>
            <a:r>
              <a:rPr lang="en-US" sz="4600" b="1" dirty="0">
                <a:solidFill>
                  <a:srgbClr val="3A2BE0"/>
                </a:solidFill>
                <a:latin typeface="Rubik" pitchFamily="34" charset="0"/>
                <a:ea typeface="Rubik" pitchFamily="34" charset="-122"/>
                <a:cs typeface="Rubik" pitchFamily="34" charset="-120"/>
              </a:rPr>
              <a:t>$1.4bn</a:t>
            </a:r>
            <a:endParaRPr lang="en-US" sz="4600" dirty="0"/>
          </a:p>
        </p:txBody>
      </p:sp>
      <p:sp>
        <p:nvSpPr>
          <p:cNvPr id="5" name="Text 3"/>
          <p:cNvSpPr/>
          <p:nvPr/>
        </p:nvSpPr>
        <p:spPr>
          <a:xfrm>
            <a:off x="812800" y="2728367"/>
            <a:ext cx="4709160" cy="1056481"/>
          </a:xfrm>
          <a:prstGeom prst="rect">
            <a:avLst/>
          </a:prstGeom>
          <a:noFill/>
          <a:ln/>
        </p:spPr>
        <p:txBody>
          <a:bodyPr wrap="square" lIns="0" tIns="0" rIns="0" bIns="0" rtlCol="0" anchor="t">
            <a:normAutofit/>
          </a:bodyPr>
          <a:lstStyle/>
          <a:p>
            <a:pPr algn="l" indent="0" marL="0">
              <a:lnSpc>
                <a:spcPts val="2030"/>
              </a:lnSpc>
              <a:buNone/>
            </a:pPr>
            <a:r>
              <a:rPr lang="en-US" sz="1450" dirty="0">
                <a:solidFill>
                  <a:srgbClr val="5B5E7D"/>
                </a:solidFill>
                <a:latin typeface="IBM Plex Sans" pitchFamily="34" charset="0"/>
                <a:ea typeface="IBM Plex Sans" pitchFamily="34" charset="-122"/>
                <a:cs typeface="IBM Plex Sans" pitchFamily="34" charset="-120"/>
              </a:rPr>
              <a:t>of leases signed but not yet commenced, at DLR's share, equal to about 20% of annualised rental and recovery revenue. Including partners' share the figure is $1.9bn.</a:t>
            </a:r>
            <a:endParaRPr lang="en-US" sz="1450" dirty="0"/>
          </a:p>
        </p:txBody>
      </p:sp>
      <p:sp>
        <p:nvSpPr>
          <p:cNvPr id="6" name="Text 4"/>
          <p:cNvSpPr/>
          <p:nvPr/>
        </p:nvSpPr>
        <p:spPr>
          <a:xfrm>
            <a:off x="812800" y="3924548"/>
            <a:ext cx="4709160" cy="25653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5B5E7D"/>
                </a:solidFill>
                <a:latin typeface="IBM Plex Sans" pitchFamily="34" charset="0"/>
                <a:ea typeface="IBM Plex Sans" pitchFamily="34" charset="-122"/>
                <a:cs typeface="IBM Plex Sans" pitchFamily="34" charset="-120"/>
              </a:rPr>
              <a:t>SCHEDULED COMMENCEMENT, DLR SHARE</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12800" y="4231878"/>
          <a:ext cx="4572000" cy="1597422"/>
        </p:xfrm>
        <a:graphic>
          <a:graphicData uri="http://schemas.openxmlformats.org/drawingml/2006/table">
            <a:tbl>
              <a:tblPr/>
              <a:tblGrid>
                <a:gridCol w="2651760"/>
                <a:gridCol w="1920240"/>
              </a:tblGrid>
              <a:tr h="399355">
                <a:tc>
                  <a:txBody>
                    <a:bodyPr/>
                    <a:lstStyle/>
                    <a:p>
                      <a:pPr indent="0" marL="0">
                        <a:lnSpc>
                          <a:spcPts val="2030"/>
                        </a:lnSpc>
                        <a:buNone/>
                      </a:pPr>
                      <a:r>
                        <a:rPr lang="en-US" sz="1450" b="1" dirty="0">
                          <a:solidFill>
                            <a:srgbClr val="0E1033"/>
                          </a:solidFill>
                          <a:latin typeface="IBM Plex Sans" pitchFamily="34" charset="0"/>
                          <a:ea typeface="IBM Plex Sans" pitchFamily="34" charset="-122"/>
                          <a:cs typeface="IBM Plex Sans" pitchFamily="34" charset="-120"/>
                        </a:rPr>
                        <a:t>Period</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solidFill>
                      <a:srgbClr val="F4F5F9"/>
                    </a:solidFill>
                  </a:tcPr>
                </a:tc>
                <a:tc>
                  <a:txBody>
                    <a:bodyPr/>
                    <a:lstStyle/>
                    <a:p>
                      <a:pPr algn="r" indent="0" marL="0">
                        <a:lnSpc>
                          <a:spcPts val="2030"/>
                        </a:lnSpc>
                        <a:buNone/>
                      </a:pPr>
                      <a:r>
                        <a:rPr lang="en-US" sz="1450" b="1" dirty="0">
                          <a:solidFill>
                            <a:srgbClr val="0E1033"/>
                          </a:solidFill>
                          <a:latin typeface="IBM Plex Sans" pitchFamily="34" charset="0"/>
                          <a:ea typeface="IBM Plex Sans" pitchFamily="34" charset="-122"/>
                          <a:cs typeface="IBM Plex Sans" pitchFamily="34" charset="-120"/>
                        </a:rPr>
                        <a:t>Annualised rent</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solidFill>
                      <a:srgbClr val="F4F5F9"/>
                    </a:solidFill>
                  </a:tcPr>
                </a:tc>
              </a:tr>
              <a:tr h="399355">
                <a:tc>
                  <a:txBody>
                    <a:bodyPr/>
                    <a:lstStyle/>
                    <a:p>
                      <a:pPr indent="0" marL="0">
                        <a:lnSpc>
                          <a:spcPts val="2030"/>
                        </a:lnSpc>
                        <a:buNone/>
                      </a:pPr>
                      <a:r>
                        <a:rPr lang="en-US" sz="1450" dirty="0">
                          <a:solidFill>
                            <a:srgbClr val="0E1033"/>
                          </a:solidFill>
                          <a:latin typeface="IBM Plex Sans" pitchFamily="34" charset="0"/>
                          <a:ea typeface="IBM Plex Sans" pitchFamily="34" charset="-122"/>
                          <a:cs typeface="IBM Plex Sans" pitchFamily="34" charset="-120"/>
                        </a:rPr>
                        <a:t>Remainder of 2026</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tcPr>
                </a:tc>
                <a:tc>
                  <a:txBody>
                    <a:bodyPr/>
                    <a:lstStyle/>
                    <a:p>
                      <a:pPr algn="r" indent="0" marL="0">
                        <a:lnSpc>
                          <a:spcPts val="2030"/>
                        </a:lnSpc>
                        <a:buNone/>
                      </a:pPr>
                      <a:r>
                        <a:rPr lang="en-US" sz="1450" dirty="0">
                          <a:solidFill>
                            <a:srgbClr val="0E1033"/>
                          </a:solidFill>
                          <a:latin typeface="IBM Plex Sans" pitchFamily="34" charset="0"/>
                          <a:ea typeface="IBM Plex Sans" pitchFamily="34" charset="-122"/>
                          <a:cs typeface="IBM Plex Sans" pitchFamily="34" charset="-120"/>
                        </a:rPr>
                        <a:t>$635m</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tcPr>
                </a:tc>
              </a:tr>
              <a:tr h="399355">
                <a:tc>
                  <a:txBody>
                    <a:bodyPr/>
                    <a:lstStyle/>
                    <a:p>
                      <a:pPr indent="0" marL="0">
                        <a:lnSpc>
                          <a:spcPts val="2030"/>
                        </a:lnSpc>
                        <a:buNone/>
                      </a:pPr>
                      <a:r>
                        <a:rPr lang="en-US" sz="1450" dirty="0">
                          <a:solidFill>
                            <a:srgbClr val="0E1033"/>
                          </a:solidFill>
                          <a:latin typeface="IBM Plex Sans" pitchFamily="34" charset="0"/>
                          <a:ea typeface="IBM Plex Sans" pitchFamily="34" charset="-122"/>
                          <a:cs typeface="IBM Plex Sans" pitchFamily="34" charset="-120"/>
                        </a:rPr>
                        <a:t>2027</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tcPr>
                </a:tc>
                <a:tc>
                  <a:txBody>
                    <a:bodyPr/>
                    <a:lstStyle/>
                    <a:p>
                      <a:pPr algn="r" indent="0" marL="0">
                        <a:lnSpc>
                          <a:spcPts val="2030"/>
                        </a:lnSpc>
                        <a:buNone/>
                      </a:pPr>
                      <a:r>
                        <a:rPr lang="en-US" sz="1450" dirty="0">
                          <a:solidFill>
                            <a:srgbClr val="0E1033"/>
                          </a:solidFill>
                          <a:latin typeface="IBM Plex Sans" pitchFamily="34" charset="0"/>
                          <a:ea typeface="IBM Plex Sans" pitchFamily="34" charset="-122"/>
                          <a:cs typeface="IBM Plex Sans" pitchFamily="34" charset="-120"/>
                        </a:rPr>
                        <a:t>$480m</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tcPr>
                </a:tc>
              </a:tr>
              <a:tr h="399355">
                <a:tc>
                  <a:txBody>
                    <a:bodyPr/>
                    <a:lstStyle/>
                    <a:p>
                      <a:pPr indent="0" marL="0">
                        <a:lnSpc>
                          <a:spcPts val="2030"/>
                        </a:lnSpc>
                        <a:buNone/>
                      </a:pPr>
                      <a:r>
                        <a:rPr lang="en-US" sz="1450" dirty="0">
                          <a:solidFill>
                            <a:srgbClr val="0E1033"/>
                          </a:solidFill>
                          <a:latin typeface="IBM Plex Sans" pitchFamily="34" charset="0"/>
                          <a:ea typeface="IBM Plex Sans" pitchFamily="34" charset="-122"/>
                          <a:cs typeface="IBM Plex Sans" pitchFamily="34" charset="-120"/>
                        </a:rPr>
                        <a:t>2028 and beyond</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tcPr>
                </a:tc>
                <a:tc>
                  <a:txBody>
                    <a:bodyPr/>
                    <a:lstStyle/>
                    <a:p>
                      <a:pPr algn="r" indent="0" marL="0">
                        <a:lnSpc>
                          <a:spcPts val="2030"/>
                        </a:lnSpc>
                        <a:buNone/>
                      </a:pPr>
                      <a:r>
                        <a:rPr lang="en-US" sz="1450" dirty="0">
                          <a:solidFill>
                            <a:srgbClr val="0E1033"/>
                          </a:solidFill>
                          <a:latin typeface="IBM Plex Sans" pitchFamily="34" charset="0"/>
                          <a:ea typeface="IBM Plex Sans" pitchFamily="34" charset="-122"/>
                          <a:cs typeface="IBM Plex Sans" pitchFamily="34" charset="-120"/>
                        </a:rPr>
                        <a:t>$312m</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tcPr>
                </a:tc>
              </a:tr>
            </a:tbl>
          </a:graphicData>
        </a:graphic>
      </p:graphicFrame>
      <p:sp>
        <p:nvSpPr>
          <p:cNvPr id="8" name="Text 5"/>
          <p:cNvSpPr/>
          <p:nvPr/>
        </p:nvSpPr>
        <p:spPr>
          <a:xfrm>
            <a:off x="5740400" y="2080667"/>
            <a:ext cx="5807964" cy="25653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5B5E7D"/>
                </a:solidFill>
                <a:latin typeface="IBM Plex Sans" pitchFamily="34" charset="0"/>
                <a:ea typeface="IBM Plex Sans" pitchFamily="34" charset="-122"/>
                <a:cs typeface="IBM Plex Sans" pitchFamily="34" charset="-120"/>
              </a:rPr>
              <a:t>CORE FFO PER SHARE, AUTHOR ESTIMATES</a:t>
            </a:r>
            <a:endParaRPr lang="en-US" sz="1300" dirty="0"/>
          </a:p>
        </p:txBody>
      </p:sp>
      <p:sp>
        <p:nvSpPr>
          <p:cNvPr id="9" name="Text 6"/>
          <p:cNvSpPr/>
          <p:nvPr/>
        </p:nvSpPr>
        <p:spPr>
          <a:xfrm>
            <a:off x="5715000" y="2400697"/>
            <a:ext cx="1076920"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0E1033"/>
                </a:solidFill>
                <a:latin typeface="IBM Plex Sans" pitchFamily="34" charset="0"/>
                <a:ea typeface="IBM Plex Sans" pitchFamily="34" charset="-122"/>
                <a:cs typeface="IBM Plex Sans" pitchFamily="34" charset="-120"/>
              </a:rPr>
              <a:t>$8.20</a:t>
            </a:r>
            <a:endParaRPr lang="en-US" sz="1500" dirty="0"/>
          </a:p>
        </p:txBody>
      </p:sp>
      <p:sp>
        <p:nvSpPr>
          <p:cNvPr id="10" name="Text 7"/>
          <p:cNvSpPr/>
          <p:nvPr/>
        </p:nvSpPr>
        <p:spPr>
          <a:xfrm>
            <a:off x="6868120" y="2400697"/>
            <a:ext cx="1076970"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0E1033"/>
                </a:solidFill>
                <a:latin typeface="IBM Plex Sans" pitchFamily="34" charset="0"/>
                <a:ea typeface="IBM Plex Sans" pitchFamily="34" charset="-122"/>
                <a:cs typeface="IBM Plex Sans" pitchFamily="34" charset="-120"/>
              </a:rPr>
              <a:t>$8.86</a:t>
            </a:r>
            <a:endParaRPr lang="en-US" sz="1500" dirty="0"/>
          </a:p>
        </p:txBody>
      </p:sp>
      <p:sp>
        <p:nvSpPr>
          <p:cNvPr id="11" name="Text 8"/>
          <p:cNvSpPr/>
          <p:nvPr/>
        </p:nvSpPr>
        <p:spPr>
          <a:xfrm>
            <a:off x="8021290" y="2400697"/>
            <a:ext cx="1076970"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0E1033"/>
                </a:solidFill>
                <a:latin typeface="IBM Plex Sans" pitchFamily="34" charset="0"/>
                <a:ea typeface="IBM Plex Sans" pitchFamily="34" charset="-122"/>
                <a:cs typeface="IBM Plex Sans" pitchFamily="34" charset="-120"/>
              </a:rPr>
              <a:t>$10.29</a:t>
            </a:r>
            <a:endParaRPr lang="en-US" sz="1500" dirty="0"/>
          </a:p>
        </p:txBody>
      </p:sp>
      <p:sp>
        <p:nvSpPr>
          <p:cNvPr id="12" name="Text 9"/>
          <p:cNvSpPr/>
          <p:nvPr/>
        </p:nvSpPr>
        <p:spPr>
          <a:xfrm>
            <a:off x="9174460" y="2400697"/>
            <a:ext cx="1076970"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0E1033"/>
                </a:solidFill>
                <a:latin typeface="IBM Plex Sans" pitchFamily="34" charset="0"/>
                <a:ea typeface="IBM Plex Sans" pitchFamily="34" charset="-122"/>
                <a:cs typeface="IBM Plex Sans" pitchFamily="34" charset="-120"/>
              </a:rPr>
              <a:t>$11.15</a:t>
            </a:r>
            <a:endParaRPr lang="en-US" sz="1500" dirty="0"/>
          </a:p>
        </p:txBody>
      </p:sp>
      <p:sp>
        <p:nvSpPr>
          <p:cNvPr id="13" name="Text 10"/>
          <p:cNvSpPr/>
          <p:nvPr/>
        </p:nvSpPr>
        <p:spPr>
          <a:xfrm>
            <a:off x="10327630" y="2400697"/>
            <a:ext cx="1076970"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0E1033"/>
                </a:solidFill>
                <a:latin typeface="IBM Plex Sans" pitchFamily="34" charset="0"/>
                <a:ea typeface="IBM Plex Sans" pitchFamily="34" charset="-122"/>
                <a:cs typeface="IBM Plex Sans" pitchFamily="34" charset="-120"/>
              </a:rPr>
              <a:t>$11.85</a:t>
            </a:r>
            <a:endParaRPr lang="en-US" sz="1500" dirty="0"/>
          </a:p>
        </p:txBody>
      </p:sp>
      <p:sp>
        <p:nvSpPr>
          <p:cNvPr id="14" name="Shape 11"/>
          <p:cNvSpPr/>
          <p:nvPr/>
        </p:nvSpPr>
        <p:spPr>
          <a:xfrm>
            <a:off x="5740400" y="3340497"/>
            <a:ext cx="1026120" cy="1320800"/>
          </a:xfrm>
          <a:prstGeom prst="rect">
            <a:avLst/>
          </a:prstGeom>
          <a:solidFill>
            <a:srgbClr val="8E96C9"/>
          </a:solidFill>
          <a:ln/>
        </p:spPr>
      </p:sp>
      <p:sp>
        <p:nvSpPr>
          <p:cNvPr id="15" name="Shape 12"/>
          <p:cNvSpPr/>
          <p:nvPr/>
        </p:nvSpPr>
        <p:spPr>
          <a:xfrm>
            <a:off x="6893520" y="3238897"/>
            <a:ext cx="1026170" cy="1422400"/>
          </a:xfrm>
          <a:prstGeom prst="rect">
            <a:avLst/>
          </a:prstGeom>
          <a:solidFill>
            <a:srgbClr val="2B3A8F"/>
          </a:solidFill>
          <a:ln/>
        </p:spPr>
      </p:sp>
      <p:sp>
        <p:nvSpPr>
          <p:cNvPr id="16" name="Shape 13"/>
          <p:cNvSpPr/>
          <p:nvPr/>
        </p:nvSpPr>
        <p:spPr>
          <a:xfrm>
            <a:off x="8046690" y="3003947"/>
            <a:ext cx="1026170" cy="1657350"/>
          </a:xfrm>
          <a:prstGeom prst="rect">
            <a:avLst/>
          </a:prstGeom>
          <a:solidFill>
            <a:srgbClr val="2B3A8F"/>
          </a:solidFill>
          <a:ln/>
        </p:spPr>
      </p:sp>
      <p:sp>
        <p:nvSpPr>
          <p:cNvPr id="17" name="Shape 14"/>
          <p:cNvSpPr/>
          <p:nvPr/>
        </p:nvSpPr>
        <p:spPr>
          <a:xfrm>
            <a:off x="9199860" y="2870597"/>
            <a:ext cx="1026170" cy="1790700"/>
          </a:xfrm>
          <a:prstGeom prst="rect">
            <a:avLst/>
          </a:prstGeom>
          <a:solidFill>
            <a:srgbClr val="2B3A8F"/>
          </a:solidFill>
          <a:ln/>
        </p:spPr>
      </p:sp>
      <p:sp>
        <p:nvSpPr>
          <p:cNvPr id="18" name="Shape 15"/>
          <p:cNvSpPr/>
          <p:nvPr/>
        </p:nvSpPr>
        <p:spPr>
          <a:xfrm>
            <a:off x="10353030" y="2756297"/>
            <a:ext cx="1026170" cy="1905000"/>
          </a:xfrm>
          <a:prstGeom prst="rect">
            <a:avLst/>
          </a:prstGeom>
          <a:solidFill>
            <a:srgbClr val="2B3A8F"/>
          </a:solidFill>
          <a:ln/>
        </p:spPr>
      </p:sp>
      <p:sp>
        <p:nvSpPr>
          <p:cNvPr id="19" name="Text 16"/>
          <p:cNvSpPr/>
          <p:nvPr/>
        </p:nvSpPr>
        <p:spPr>
          <a:xfrm>
            <a:off x="5715000" y="4750197"/>
            <a:ext cx="1076920" cy="265410"/>
          </a:xfrm>
          <a:prstGeom prst="rect">
            <a:avLst/>
          </a:prstGeom>
          <a:noFill/>
          <a:ln/>
        </p:spPr>
        <p:txBody>
          <a:bodyPr wrap="square" lIns="0" tIns="0" rIns="0" bIns="0" rtlCol="0" anchor="t">
            <a:normAutofit/>
          </a:bodyPr>
          <a:lstStyle/>
          <a:p>
            <a:pPr algn="ctr" indent="0" marL="0">
              <a:lnSpc>
                <a:spcPts val="1890"/>
              </a:lnSpc>
              <a:buNone/>
            </a:pPr>
            <a:r>
              <a:rPr lang="en-US" sz="1350" dirty="0">
                <a:solidFill>
                  <a:srgbClr val="5B5E7D"/>
                </a:solidFill>
                <a:latin typeface="IBM Plex Sans" pitchFamily="34" charset="0"/>
                <a:ea typeface="IBM Plex Sans" pitchFamily="34" charset="-122"/>
                <a:cs typeface="IBM Plex Sans" pitchFamily="34" charset="-120"/>
              </a:rPr>
              <a:t>FY26E</a:t>
            </a:r>
            <a:endParaRPr lang="en-US" sz="1350" dirty="0"/>
          </a:p>
        </p:txBody>
      </p:sp>
      <p:sp>
        <p:nvSpPr>
          <p:cNvPr id="20" name="Text 17"/>
          <p:cNvSpPr/>
          <p:nvPr/>
        </p:nvSpPr>
        <p:spPr>
          <a:xfrm>
            <a:off x="6868120" y="4750197"/>
            <a:ext cx="1076970" cy="265410"/>
          </a:xfrm>
          <a:prstGeom prst="rect">
            <a:avLst/>
          </a:prstGeom>
          <a:noFill/>
          <a:ln/>
        </p:spPr>
        <p:txBody>
          <a:bodyPr wrap="square" lIns="0" tIns="0" rIns="0" bIns="0" rtlCol="0" anchor="t">
            <a:normAutofit/>
          </a:bodyPr>
          <a:lstStyle/>
          <a:p>
            <a:pPr algn="ctr" indent="0" marL="0">
              <a:lnSpc>
                <a:spcPts val="1890"/>
              </a:lnSpc>
              <a:buNone/>
            </a:pPr>
            <a:r>
              <a:rPr lang="en-US" sz="1350" dirty="0">
                <a:solidFill>
                  <a:srgbClr val="5B5E7D"/>
                </a:solidFill>
                <a:latin typeface="IBM Plex Sans" pitchFamily="34" charset="0"/>
                <a:ea typeface="IBM Plex Sans" pitchFamily="34" charset="-122"/>
                <a:cs typeface="IBM Plex Sans" pitchFamily="34" charset="-120"/>
              </a:rPr>
              <a:t>FY27E</a:t>
            </a:r>
            <a:endParaRPr lang="en-US" sz="1350" dirty="0"/>
          </a:p>
        </p:txBody>
      </p:sp>
      <p:sp>
        <p:nvSpPr>
          <p:cNvPr id="21" name="Text 18"/>
          <p:cNvSpPr/>
          <p:nvPr/>
        </p:nvSpPr>
        <p:spPr>
          <a:xfrm>
            <a:off x="8021290" y="4750197"/>
            <a:ext cx="1076970" cy="265410"/>
          </a:xfrm>
          <a:prstGeom prst="rect">
            <a:avLst/>
          </a:prstGeom>
          <a:noFill/>
          <a:ln/>
        </p:spPr>
        <p:txBody>
          <a:bodyPr wrap="square" lIns="0" tIns="0" rIns="0" bIns="0" rtlCol="0" anchor="t">
            <a:normAutofit/>
          </a:bodyPr>
          <a:lstStyle/>
          <a:p>
            <a:pPr algn="ctr" indent="0" marL="0">
              <a:lnSpc>
                <a:spcPts val="1890"/>
              </a:lnSpc>
              <a:buNone/>
            </a:pPr>
            <a:r>
              <a:rPr lang="en-US" sz="1350" dirty="0">
                <a:solidFill>
                  <a:srgbClr val="5B5E7D"/>
                </a:solidFill>
                <a:latin typeface="IBM Plex Sans" pitchFamily="34" charset="0"/>
                <a:ea typeface="IBM Plex Sans" pitchFamily="34" charset="-122"/>
                <a:cs typeface="IBM Plex Sans" pitchFamily="34" charset="-120"/>
              </a:rPr>
              <a:t>FY28E</a:t>
            </a:r>
            <a:endParaRPr lang="en-US" sz="1350" dirty="0"/>
          </a:p>
        </p:txBody>
      </p:sp>
      <p:sp>
        <p:nvSpPr>
          <p:cNvPr id="22" name="Text 19"/>
          <p:cNvSpPr/>
          <p:nvPr/>
        </p:nvSpPr>
        <p:spPr>
          <a:xfrm>
            <a:off x="9174460" y="4750197"/>
            <a:ext cx="1076970" cy="265410"/>
          </a:xfrm>
          <a:prstGeom prst="rect">
            <a:avLst/>
          </a:prstGeom>
          <a:noFill/>
          <a:ln/>
        </p:spPr>
        <p:txBody>
          <a:bodyPr wrap="square" lIns="0" tIns="0" rIns="0" bIns="0" rtlCol="0" anchor="t">
            <a:normAutofit/>
          </a:bodyPr>
          <a:lstStyle/>
          <a:p>
            <a:pPr algn="ctr" indent="0" marL="0">
              <a:lnSpc>
                <a:spcPts val="1890"/>
              </a:lnSpc>
              <a:buNone/>
            </a:pPr>
            <a:r>
              <a:rPr lang="en-US" sz="1350" dirty="0">
                <a:solidFill>
                  <a:srgbClr val="5B5E7D"/>
                </a:solidFill>
                <a:latin typeface="IBM Plex Sans" pitchFamily="34" charset="0"/>
                <a:ea typeface="IBM Plex Sans" pitchFamily="34" charset="-122"/>
                <a:cs typeface="IBM Plex Sans" pitchFamily="34" charset="-120"/>
              </a:rPr>
              <a:t>FY29E</a:t>
            </a:r>
            <a:endParaRPr lang="en-US" sz="1350" dirty="0"/>
          </a:p>
        </p:txBody>
      </p:sp>
      <p:sp>
        <p:nvSpPr>
          <p:cNvPr id="23" name="Text 20"/>
          <p:cNvSpPr/>
          <p:nvPr/>
        </p:nvSpPr>
        <p:spPr>
          <a:xfrm>
            <a:off x="10327630" y="4750197"/>
            <a:ext cx="1076970" cy="265410"/>
          </a:xfrm>
          <a:prstGeom prst="rect">
            <a:avLst/>
          </a:prstGeom>
          <a:noFill/>
          <a:ln/>
        </p:spPr>
        <p:txBody>
          <a:bodyPr wrap="square" lIns="0" tIns="0" rIns="0" bIns="0" rtlCol="0" anchor="t">
            <a:normAutofit/>
          </a:bodyPr>
          <a:lstStyle/>
          <a:p>
            <a:pPr algn="ctr" indent="0" marL="0">
              <a:lnSpc>
                <a:spcPts val="1890"/>
              </a:lnSpc>
              <a:buNone/>
            </a:pPr>
            <a:r>
              <a:rPr lang="en-US" sz="1350" dirty="0">
                <a:solidFill>
                  <a:srgbClr val="5B5E7D"/>
                </a:solidFill>
                <a:latin typeface="IBM Plex Sans" pitchFamily="34" charset="0"/>
                <a:ea typeface="IBM Plex Sans" pitchFamily="34" charset="-122"/>
                <a:cs typeface="IBM Plex Sans" pitchFamily="34" charset="-120"/>
              </a:rPr>
              <a:t>FY30E</a:t>
            </a:r>
            <a:endParaRPr lang="en-US" sz="1350" dirty="0"/>
          </a:p>
        </p:txBody>
      </p:sp>
      <p:sp>
        <p:nvSpPr>
          <p:cNvPr id="24" name="Text 21"/>
          <p:cNvSpPr/>
          <p:nvPr/>
        </p:nvSpPr>
        <p:spPr>
          <a:xfrm>
            <a:off x="5740400" y="5079107"/>
            <a:ext cx="5807964"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B5E7D"/>
                </a:solidFill>
                <a:latin typeface="IBM Plex Sans" pitchFamily="34" charset="0"/>
                <a:ea typeface="IBM Plex Sans" pitchFamily="34" charset="-122"/>
                <a:cs typeface="IBM Plex Sans" pitchFamily="34" charset="-120"/>
              </a:rPr>
              <a:t>FY26 company guidance $8.15 to $8.20. Excludes promote income.</a:t>
            </a:r>
            <a:endParaRPr lang="en-US" sz="1300" dirty="0"/>
          </a:p>
        </p:txBody>
      </p:sp>
      <p:sp>
        <p:nvSpPr>
          <p:cNvPr id="25" name="Text 22"/>
          <p:cNvSpPr/>
          <p:nvPr/>
        </p:nvSpPr>
        <p:spPr>
          <a:xfrm>
            <a:off x="812800" y="6238280"/>
            <a:ext cx="44004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C8099"/>
                </a:solidFill>
                <a:latin typeface="IBM Plex Sans" pitchFamily="34" charset="0"/>
                <a:ea typeface="IBM Plex Sans" pitchFamily="34" charset="-122"/>
                <a:cs typeface="IBM Plex Sans" pitchFamily="34" charset="-120"/>
              </a:rPr>
              <a:t>Source: DLR 2Q26 earnings presentation p.9; author estimates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A2BE0"/>
                </a:solidFill>
                <a:latin typeface="IBM Plex Sans" pitchFamily="34" charset="0"/>
                <a:ea typeface="IBM Plex Sans" pitchFamily="34" charset="-122"/>
                <a:cs typeface="IBM Plex Sans" pitchFamily="34" charset="-120"/>
              </a:rPr>
              <a:t>VALUATION</a:t>
            </a:r>
            <a:endParaRPr lang="en-US" sz="1200" dirty="0"/>
          </a:p>
        </p:txBody>
      </p:sp>
      <p:sp>
        <p:nvSpPr>
          <p:cNvPr id="3" name="Text 1"/>
          <p:cNvSpPr/>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0E1033"/>
                </a:solidFill>
                <a:latin typeface="Rubik" pitchFamily="34" charset="0"/>
                <a:ea typeface="Rubik" pitchFamily="34" charset="-122"/>
                <a:cs typeface="Rubik" pitchFamily="34" charset="-120"/>
              </a:rPr>
              <a:t>What the business is worth</a:t>
            </a:r>
            <a:endParaRPr lang="en-US" sz="3200" dirty="0"/>
          </a:p>
        </p:txBody>
      </p:sp>
      <p:sp>
        <p:nvSpPr>
          <p:cNvPr id="4" name="Text 2"/>
          <p:cNvSpPr/>
          <p:nvPr/>
        </p:nvSpPr>
        <p:spPr>
          <a:xfrm>
            <a:off x="812800" y="1676350"/>
            <a:ext cx="9287510"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5B5E7D"/>
                </a:solidFill>
                <a:latin typeface="IBM Plex Sans" pitchFamily="34" charset="0"/>
                <a:ea typeface="IBM Plex Sans" pitchFamily="34" charset="-122"/>
                <a:cs typeface="IBM Plex Sans" pitchFamily="34" charset="-120"/>
              </a:rPr>
              <a:t>Four methods, weighted. Net asset value carries the most weight because this is a property balance sheet.</a:t>
            </a:r>
            <a:endParaRPr lang="en-US" sz="1500" dirty="0"/>
          </a:p>
        </p:txBody>
      </p:sp>
      <p:sp>
        <p:nvSpPr>
          <p:cNvPr id="5" name="Text 3"/>
          <p:cNvSpPr/>
          <p:nvPr/>
        </p:nvSpPr>
        <p:spPr>
          <a:xfrm>
            <a:off x="812800" y="2444700"/>
            <a:ext cx="2877820" cy="279102"/>
          </a:xfrm>
          <a:prstGeom prst="rect">
            <a:avLst/>
          </a:prstGeom>
          <a:noFill/>
          <a:ln/>
        </p:spPr>
        <p:txBody>
          <a:bodyPr wrap="square" lIns="0" tIns="0" rIns="0" bIns="0" rtlCol="0" anchor="t">
            <a:normAutofit/>
          </a:bodyPr>
          <a:lstStyle/>
          <a:p>
            <a:pPr algn="l" indent="0" marL="0">
              <a:lnSpc>
                <a:spcPts val="1998"/>
              </a:lnSpc>
              <a:buNone/>
            </a:pPr>
            <a:r>
              <a:rPr lang="en-US" sz="1350" dirty="0">
                <a:solidFill>
                  <a:srgbClr val="0E1033"/>
                </a:solidFill>
                <a:latin typeface="IBM Plex Sans" pitchFamily="34" charset="0"/>
                <a:ea typeface="IBM Plex Sans" pitchFamily="34" charset="-122"/>
                <a:cs typeface="IBM Plex Sans" pitchFamily="34" charset="-120"/>
              </a:rPr>
              <a:t>Net asset value, 40% weight</a:t>
            </a:r>
            <a:endParaRPr lang="en-US" sz="1350" dirty="0"/>
          </a:p>
        </p:txBody>
      </p:sp>
      <p:sp>
        <p:nvSpPr>
          <p:cNvPr id="6" name="Text 4"/>
          <p:cNvSpPr/>
          <p:nvPr/>
        </p:nvSpPr>
        <p:spPr>
          <a:xfrm>
            <a:off x="812800" y="2876500"/>
            <a:ext cx="2877820" cy="279102"/>
          </a:xfrm>
          <a:prstGeom prst="rect">
            <a:avLst/>
          </a:prstGeom>
          <a:noFill/>
          <a:ln/>
        </p:spPr>
        <p:txBody>
          <a:bodyPr wrap="square" lIns="0" tIns="0" rIns="0" bIns="0" rtlCol="0" anchor="t">
            <a:normAutofit/>
          </a:bodyPr>
          <a:lstStyle/>
          <a:p>
            <a:pPr algn="l" indent="0" marL="0">
              <a:lnSpc>
                <a:spcPts val="1998"/>
              </a:lnSpc>
              <a:buNone/>
            </a:pPr>
            <a:r>
              <a:rPr lang="en-US" sz="1350" dirty="0">
                <a:solidFill>
                  <a:srgbClr val="0E1033"/>
                </a:solidFill>
                <a:latin typeface="IBM Plex Sans" pitchFamily="34" charset="0"/>
                <a:ea typeface="IBM Plex Sans" pitchFamily="34" charset="-122"/>
                <a:cs typeface="IBM Plex Sans" pitchFamily="34" charset="-120"/>
              </a:rPr>
              <a:t>Discounted cash flow, 30%</a:t>
            </a:r>
            <a:endParaRPr lang="en-US" sz="1350" dirty="0"/>
          </a:p>
        </p:txBody>
      </p:sp>
      <p:sp>
        <p:nvSpPr>
          <p:cNvPr id="7" name="Text 5"/>
          <p:cNvSpPr/>
          <p:nvPr/>
        </p:nvSpPr>
        <p:spPr>
          <a:xfrm>
            <a:off x="812800" y="3308300"/>
            <a:ext cx="2877820" cy="279102"/>
          </a:xfrm>
          <a:prstGeom prst="rect">
            <a:avLst/>
          </a:prstGeom>
          <a:noFill/>
          <a:ln/>
        </p:spPr>
        <p:txBody>
          <a:bodyPr wrap="square" lIns="0" tIns="0" rIns="0" bIns="0" rtlCol="0" anchor="t">
            <a:normAutofit/>
          </a:bodyPr>
          <a:lstStyle/>
          <a:p>
            <a:pPr algn="l" indent="0" marL="0">
              <a:lnSpc>
                <a:spcPts val="1998"/>
              </a:lnSpc>
              <a:buNone/>
            </a:pPr>
            <a:r>
              <a:rPr lang="en-US" sz="1350" dirty="0">
                <a:solidFill>
                  <a:srgbClr val="0E1033"/>
                </a:solidFill>
                <a:latin typeface="IBM Plex Sans" pitchFamily="34" charset="0"/>
                <a:ea typeface="IBM Plex Sans" pitchFamily="34" charset="-122"/>
                <a:cs typeface="IBM Plex Sans" pitchFamily="34" charset="-120"/>
              </a:rPr>
              <a:t>Multiple of 2027 Core FFO, 20%</a:t>
            </a:r>
            <a:endParaRPr lang="en-US" sz="1350" dirty="0"/>
          </a:p>
        </p:txBody>
      </p:sp>
      <p:sp>
        <p:nvSpPr>
          <p:cNvPr id="8" name="Text 6"/>
          <p:cNvSpPr/>
          <p:nvPr/>
        </p:nvSpPr>
        <p:spPr>
          <a:xfrm>
            <a:off x="812800" y="3740100"/>
            <a:ext cx="2877820" cy="279102"/>
          </a:xfrm>
          <a:prstGeom prst="rect">
            <a:avLst/>
          </a:prstGeom>
          <a:noFill/>
          <a:ln/>
        </p:spPr>
        <p:txBody>
          <a:bodyPr wrap="square" lIns="0" tIns="0" rIns="0" bIns="0" rtlCol="0" anchor="t">
            <a:normAutofit/>
          </a:bodyPr>
          <a:lstStyle/>
          <a:p>
            <a:pPr algn="l" indent="0" marL="0">
              <a:lnSpc>
                <a:spcPts val="1998"/>
              </a:lnSpc>
              <a:buNone/>
            </a:pPr>
            <a:r>
              <a:rPr lang="en-US" sz="1350" dirty="0">
                <a:solidFill>
                  <a:srgbClr val="0E1033"/>
                </a:solidFill>
                <a:latin typeface="IBM Plex Sans" pitchFamily="34" charset="0"/>
                <a:ea typeface="IBM Plex Sans" pitchFamily="34" charset="-122"/>
                <a:cs typeface="IBM Plex Sans" pitchFamily="34" charset="-120"/>
              </a:rPr>
              <a:t>Multiple of 2027 AFFO, 10%</a:t>
            </a:r>
            <a:endParaRPr lang="en-US" sz="1350" dirty="0"/>
          </a:p>
        </p:txBody>
      </p:sp>
      <p:sp>
        <p:nvSpPr>
          <p:cNvPr id="9" name="Text 7"/>
          <p:cNvSpPr/>
          <p:nvPr/>
        </p:nvSpPr>
        <p:spPr>
          <a:xfrm>
            <a:off x="812800" y="4171900"/>
            <a:ext cx="2877820" cy="279102"/>
          </a:xfrm>
          <a:prstGeom prst="rect">
            <a:avLst/>
          </a:prstGeom>
          <a:noFill/>
          <a:ln/>
        </p:spPr>
        <p:txBody>
          <a:bodyPr wrap="square" lIns="0" tIns="0" rIns="0" bIns="0" rtlCol="0" anchor="t">
            <a:normAutofit/>
          </a:bodyPr>
          <a:lstStyle/>
          <a:p>
            <a:pPr algn="l" indent="0" marL="0">
              <a:lnSpc>
                <a:spcPts val="1998"/>
              </a:lnSpc>
              <a:buNone/>
            </a:pPr>
            <a:r>
              <a:rPr lang="en-US" sz="1350" dirty="0">
                <a:solidFill>
                  <a:srgbClr val="0E1033"/>
                </a:solidFill>
                <a:latin typeface="IBM Plex Sans" pitchFamily="34" charset="0"/>
                <a:ea typeface="IBM Plex Sans" pitchFamily="34" charset="-122"/>
                <a:cs typeface="IBM Plex Sans" pitchFamily="34" charset="-120"/>
              </a:rPr>
              <a:t>Bear to bull scenarios</a:t>
            </a:r>
            <a:endParaRPr lang="en-US" sz="1350" dirty="0"/>
          </a:p>
        </p:txBody>
      </p:sp>
      <p:sp>
        <p:nvSpPr>
          <p:cNvPr id="10" name="Text 8"/>
          <p:cNvSpPr/>
          <p:nvPr/>
        </p:nvSpPr>
        <p:spPr>
          <a:xfrm>
            <a:off x="812800" y="4603700"/>
            <a:ext cx="2877820" cy="279102"/>
          </a:xfrm>
          <a:prstGeom prst="rect">
            <a:avLst/>
          </a:prstGeom>
          <a:noFill/>
          <a:ln/>
        </p:spPr>
        <p:txBody>
          <a:bodyPr wrap="square" lIns="0" tIns="0" rIns="0" bIns="0" rtlCol="0" anchor="t">
            <a:normAutofit/>
          </a:bodyPr>
          <a:lstStyle/>
          <a:p>
            <a:pPr algn="l" indent="0" marL="0">
              <a:lnSpc>
                <a:spcPts val="1998"/>
              </a:lnSpc>
              <a:buNone/>
            </a:pPr>
            <a:r>
              <a:rPr lang="en-US" sz="1350" dirty="0">
                <a:solidFill>
                  <a:srgbClr val="0E1033"/>
                </a:solidFill>
                <a:latin typeface="IBM Plex Sans" pitchFamily="34" charset="0"/>
                <a:ea typeface="IBM Plex Sans" pitchFamily="34" charset="-122"/>
                <a:cs typeface="IBM Plex Sans" pitchFamily="34" charset="-120"/>
              </a:rPr>
              <a:t>Sell side consensus range</a:t>
            </a:r>
            <a:endParaRPr lang="en-US" sz="1350" dirty="0"/>
          </a:p>
        </p:txBody>
      </p:sp>
      <p:sp>
        <p:nvSpPr>
          <p:cNvPr id="11" name="Shape 9"/>
          <p:cNvSpPr/>
          <p:nvPr/>
        </p:nvSpPr>
        <p:spPr>
          <a:xfrm>
            <a:off x="5816600" y="2444700"/>
            <a:ext cx="2552700" cy="254000"/>
          </a:xfrm>
          <a:prstGeom prst="rect">
            <a:avLst/>
          </a:prstGeom>
          <a:solidFill>
            <a:srgbClr val="2B3A8F"/>
          </a:solidFill>
          <a:ln/>
        </p:spPr>
      </p:sp>
      <p:sp>
        <p:nvSpPr>
          <p:cNvPr id="12" name="Text 10"/>
          <p:cNvSpPr/>
          <p:nvPr/>
        </p:nvSpPr>
        <p:spPr>
          <a:xfrm>
            <a:off x="8458200" y="2444700"/>
            <a:ext cx="1447800" cy="279648"/>
          </a:xfrm>
          <a:prstGeom prst="rect">
            <a:avLst/>
          </a:prstGeom>
          <a:noFill/>
          <a:ln/>
        </p:spPr>
        <p:txBody>
          <a:bodyPr wrap="square" lIns="0" tIns="0" rIns="0" bIns="0" rtlCol="0" anchor="t">
            <a:normAutofit/>
          </a:bodyPr>
          <a:lstStyle/>
          <a:p>
            <a:pPr algn="l" indent="0" marL="0">
              <a:lnSpc>
                <a:spcPts val="2002"/>
              </a:lnSpc>
              <a:buNone/>
            </a:pPr>
            <a:r>
              <a:rPr lang="en-US" sz="1300" dirty="0">
                <a:solidFill>
                  <a:srgbClr val="5B5E7D"/>
                </a:solidFill>
                <a:latin typeface="IBM Plex Sans" pitchFamily="34" charset="0"/>
                <a:ea typeface="IBM Plex Sans" pitchFamily="34" charset="-122"/>
                <a:cs typeface="IBM Plex Sans" pitchFamily="34" charset="-120"/>
              </a:rPr>
              <a:t>$195 - $244</a:t>
            </a:r>
            <a:endParaRPr lang="en-US" sz="1300" dirty="0"/>
          </a:p>
        </p:txBody>
      </p:sp>
      <p:sp>
        <p:nvSpPr>
          <p:cNvPr id="13" name="Shape 11"/>
          <p:cNvSpPr/>
          <p:nvPr/>
        </p:nvSpPr>
        <p:spPr>
          <a:xfrm>
            <a:off x="6699250" y="2876500"/>
            <a:ext cx="1301750" cy="254000"/>
          </a:xfrm>
          <a:prstGeom prst="rect">
            <a:avLst/>
          </a:prstGeom>
          <a:solidFill>
            <a:srgbClr val="2B3A8F"/>
          </a:solidFill>
          <a:ln/>
        </p:spPr>
      </p:sp>
      <p:sp>
        <p:nvSpPr>
          <p:cNvPr id="14" name="Text 12"/>
          <p:cNvSpPr/>
          <p:nvPr/>
        </p:nvSpPr>
        <p:spPr>
          <a:xfrm>
            <a:off x="8089900" y="2876500"/>
            <a:ext cx="1447800" cy="279648"/>
          </a:xfrm>
          <a:prstGeom prst="rect">
            <a:avLst/>
          </a:prstGeom>
          <a:noFill/>
          <a:ln/>
        </p:spPr>
        <p:txBody>
          <a:bodyPr wrap="square" lIns="0" tIns="0" rIns="0" bIns="0" rtlCol="0" anchor="t">
            <a:normAutofit/>
          </a:bodyPr>
          <a:lstStyle/>
          <a:p>
            <a:pPr algn="l" indent="0" marL="0">
              <a:lnSpc>
                <a:spcPts val="2002"/>
              </a:lnSpc>
              <a:buNone/>
            </a:pPr>
            <a:r>
              <a:rPr lang="en-US" sz="1300" dirty="0">
                <a:solidFill>
                  <a:srgbClr val="5B5E7D"/>
                </a:solidFill>
                <a:latin typeface="IBM Plex Sans" pitchFamily="34" charset="0"/>
                <a:ea typeface="IBM Plex Sans" pitchFamily="34" charset="-122"/>
                <a:cs typeface="IBM Plex Sans" pitchFamily="34" charset="-120"/>
              </a:rPr>
              <a:t>$212 - $237</a:t>
            </a:r>
            <a:endParaRPr lang="en-US" sz="1300" dirty="0"/>
          </a:p>
        </p:txBody>
      </p:sp>
      <p:sp>
        <p:nvSpPr>
          <p:cNvPr id="15" name="Shape 13"/>
          <p:cNvSpPr/>
          <p:nvPr/>
        </p:nvSpPr>
        <p:spPr>
          <a:xfrm>
            <a:off x="5346700" y="3308300"/>
            <a:ext cx="1822450" cy="254000"/>
          </a:xfrm>
          <a:prstGeom prst="rect">
            <a:avLst/>
          </a:prstGeom>
          <a:solidFill>
            <a:srgbClr val="2B3A8F"/>
          </a:solidFill>
          <a:ln/>
        </p:spPr>
      </p:sp>
      <p:sp>
        <p:nvSpPr>
          <p:cNvPr id="16" name="Text 14"/>
          <p:cNvSpPr/>
          <p:nvPr/>
        </p:nvSpPr>
        <p:spPr>
          <a:xfrm>
            <a:off x="7258050" y="3308300"/>
            <a:ext cx="1447800" cy="279648"/>
          </a:xfrm>
          <a:prstGeom prst="rect">
            <a:avLst/>
          </a:prstGeom>
          <a:noFill/>
          <a:ln/>
        </p:spPr>
        <p:txBody>
          <a:bodyPr wrap="square" lIns="0" tIns="0" rIns="0" bIns="0" rtlCol="0" anchor="t">
            <a:normAutofit/>
          </a:bodyPr>
          <a:lstStyle/>
          <a:p>
            <a:pPr algn="l" indent="0" marL="0">
              <a:lnSpc>
                <a:spcPts val="2002"/>
              </a:lnSpc>
              <a:buNone/>
            </a:pPr>
            <a:r>
              <a:rPr lang="en-US" sz="1300" dirty="0">
                <a:solidFill>
                  <a:srgbClr val="5B5E7D"/>
                </a:solidFill>
                <a:latin typeface="IBM Plex Sans" pitchFamily="34" charset="0"/>
                <a:ea typeface="IBM Plex Sans" pitchFamily="34" charset="-122"/>
                <a:cs typeface="IBM Plex Sans" pitchFamily="34" charset="-120"/>
              </a:rPr>
              <a:t>$186 - $221</a:t>
            </a:r>
            <a:endParaRPr lang="en-US" sz="1300" dirty="0"/>
          </a:p>
        </p:txBody>
      </p:sp>
      <p:sp>
        <p:nvSpPr>
          <p:cNvPr id="17" name="Shape 15"/>
          <p:cNvSpPr/>
          <p:nvPr/>
        </p:nvSpPr>
        <p:spPr>
          <a:xfrm>
            <a:off x="4413250" y="3740100"/>
            <a:ext cx="1612900" cy="254000"/>
          </a:xfrm>
          <a:prstGeom prst="rect">
            <a:avLst/>
          </a:prstGeom>
          <a:solidFill>
            <a:srgbClr val="2B3A8F"/>
          </a:solidFill>
          <a:ln/>
        </p:spPr>
      </p:sp>
      <p:sp>
        <p:nvSpPr>
          <p:cNvPr id="18" name="Text 16"/>
          <p:cNvSpPr/>
          <p:nvPr/>
        </p:nvSpPr>
        <p:spPr>
          <a:xfrm>
            <a:off x="6115050" y="3740100"/>
            <a:ext cx="1447800" cy="279648"/>
          </a:xfrm>
          <a:prstGeom prst="rect">
            <a:avLst/>
          </a:prstGeom>
          <a:noFill/>
          <a:ln/>
        </p:spPr>
        <p:txBody>
          <a:bodyPr wrap="square" lIns="0" tIns="0" rIns="0" bIns="0" rtlCol="0" anchor="t">
            <a:normAutofit/>
          </a:bodyPr>
          <a:lstStyle/>
          <a:p>
            <a:pPr algn="l" indent="0" marL="0">
              <a:lnSpc>
                <a:spcPts val="2002"/>
              </a:lnSpc>
              <a:buNone/>
            </a:pPr>
            <a:r>
              <a:rPr lang="en-US" sz="1300" dirty="0">
                <a:solidFill>
                  <a:srgbClr val="5B5E7D"/>
                </a:solidFill>
                <a:latin typeface="IBM Plex Sans" pitchFamily="34" charset="0"/>
                <a:ea typeface="IBM Plex Sans" pitchFamily="34" charset="-122"/>
                <a:cs typeface="IBM Plex Sans" pitchFamily="34" charset="-120"/>
              </a:rPr>
              <a:t>$168 - $199</a:t>
            </a:r>
            <a:endParaRPr lang="en-US" sz="1300" dirty="0"/>
          </a:p>
        </p:txBody>
      </p:sp>
      <p:sp>
        <p:nvSpPr>
          <p:cNvPr id="19" name="Shape 17"/>
          <p:cNvSpPr/>
          <p:nvPr/>
        </p:nvSpPr>
        <p:spPr>
          <a:xfrm>
            <a:off x="4152900" y="4171900"/>
            <a:ext cx="5207000" cy="254000"/>
          </a:xfrm>
          <a:prstGeom prst="rect">
            <a:avLst/>
          </a:prstGeom>
          <a:solidFill>
            <a:srgbClr val="AEB4D4"/>
          </a:solidFill>
          <a:ln/>
        </p:spPr>
      </p:sp>
      <p:sp>
        <p:nvSpPr>
          <p:cNvPr id="20" name="Text 18"/>
          <p:cNvSpPr/>
          <p:nvPr/>
        </p:nvSpPr>
        <p:spPr>
          <a:xfrm>
            <a:off x="9448800" y="4171900"/>
            <a:ext cx="1447800" cy="279648"/>
          </a:xfrm>
          <a:prstGeom prst="rect">
            <a:avLst/>
          </a:prstGeom>
          <a:noFill/>
          <a:ln/>
        </p:spPr>
        <p:txBody>
          <a:bodyPr wrap="square" lIns="0" tIns="0" rIns="0" bIns="0" rtlCol="0" anchor="t">
            <a:normAutofit/>
          </a:bodyPr>
          <a:lstStyle/>
          <a:p>
            <a:pPr algn="l" indent="0" marL="0">
              <a:lnSpc>
                <a:spcPts val="2002"/>
              </a:lnSpc>
              <a:buNone/>
            </a:pPr>
            <a:r>
              <a:rPr lang="en-US" sz="1300" dirty="0">
                <a:solidFill>
                  <a:srgbClr val="5B5E7D"/>
                </a:solidFill>
                <a:latin typeface="IBM Plex Sans" pitchFamily="34" charset="0"/>
                <a:ea typeface="IBM Plex Sans" pitchFamily="34" charset="-122"/>
                <a:cs typeface="IBM Plex Sans" pitchFamily="34" charset="-120"/>
              </a:rPr>
              <a:t>$163 - $263</a:t>
            </a:r>
            <a:endParaRPr lang="en-US" sz="1300" dirty="0"/>
          </a:p>
        </p:txBody>
      </p:sp>
      <p:sp>
        <p:nvSpPr>
          <p:cNvPr id="21" name="Shape 19"/>
          <p:cNvSpPr/>
          <p:nvPr/>
        </p:nvSpPr>
        <p:spPr>
          <a:xfrm>
            <a:off x="7118350" y="4603700"/>
            <a:ext cx="1041400" cy="254000"/>
          </a:xfrm>
          <a:prstGeom prst="rect">
            <a:avLst/>
          </a:prstGeom>
          <a:solidFill>
            <a:srgbClr val="9BA0B8"/>
          </a:solidFill>
          <a:ln/>
        </p:spPr>
      </p:sp>
      <p:sp>
        <p:nvSpPr>
          <p:cNvPr id="22" name="Text 20"/>
          <p:cNvSpPr/>
          <p:nvPr/>
        </p:nvSpPr>
        <p:spPr>
          <a:xfrm>
            <a:off x="8248650" y="4603700"/>
            <a:ext cx="1447800" cy="279648"/>
          </a:xfrm>
          <a:prstGeom prst="rect">
            <a:avLst/>
          </a:prstGeom>
          <a:noFill/>
          <a:ln/>
        </p:spPr>
        <p:txBody>
          <a:bodyPr wrap="square" lIns="0" tIns="0" rIns="0" bIns="0" rtlCol="0" anchor="t">
            <a:normAutofit/>
          </a:bodyPr>
          <a:lstStyle/>
          <a:p>
            <a:pPr algn="l" indent="0" marL="0">
              <a:lnSpc>
                <a:spcPts val="2002"/>
              </a:lnSpc>
              <a:buNone/>
            </a:pPr>
            <a:r>
              <a:rPr lang="en-US" sz="1300" dirty="0">
                <a:solidFill>
                  <a:srgbClr val="5B5E7D"/>
                </a:solidFill>
                <a:latin typeface="IBM Plex Sans" pitchFamily="34" charset="0"/>
                <a:ea typeface="IBM Plex Sans" pitchFamily="34" charset="-122"/>
                <a:cs typeface="IBM Plex Sans" pitchFamily="34" charset="-120"/>
              </a:rPr>
              <a:t>$220 - $240</a:t>
            </a:r>
            <a:endParaRPr lang="en-US" sz="1300" dirty="0"/>
          </a:p>
        </p:txBody>
      </p:sp>
      <p:sp>
        <p:nvSpPr>
          <p:cNvPr id="23" name="Shape 21"/>
          <p:cNvSpPr/>
          <p:nvPr/>
        </p:nvSpPr>
        <p:spPr>
          <a:xfrm>
            <a:off x="5257800" y="2444700"/>
            <a:ext cx="12700" cy="2438400"/>
          </a:xfrm>
          <a:prstGeom prst="rect">
            <a:avLst/>
          </a:prstGeom>
          <a:solidFill>
            <a:srgbClr val="9BA0B8"/>
          </a:solidFill>
          <a:ln/>
        </p:spPr>
      </p:sp>
      <p:sp>
        <p:nvSpPr>
          <p:cNvPr id="24" name="Shape 22"/>
          <p:cNvSpPr/>
          <p:nvPr/>
        </p:nvSpPr>
        <p:spPr>
          <a:xfrm>
            <a:off x="6756400" y="2444700"/>
            <a:ext cx="19050" cy="2438400"/>
          </a:xfrm>
          <a:prstGeom prst="rect">
            <a:avLst/>
          </a:prstGeom>
          <a:solidFill>
            <a:srgbClr val="0B7A55"/>
          </a:solidFill>
          <a:ln/>
        </p:spPr>
      </p:sp>
      <p:sp>
        <p:nvSpPr>
          <p:cNvPr id="25" name="Text 23"/>
          <p:cNvSpPr/>
          <p:nvPr/>
        </p:nvSpPr>
        <p:spPr>
          <a:xfrm>
            <a:off x="4521200" y="4959300"/>
            <a:ext cx="1473200" cy="256530"/>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5B5E7D"/>
                </a:solidFill>
                <a:latin typeface="IBM Plex Sans" pitchFamily="34" charset="0"/>
                <a:ea typeface="IBM Plex Sans" pitchFamily="34" charset="-122"/>
                <a:cs typeface="IBM Plex Sans" pitchFamily="34" charset="-120"/>
              </a:rPr>
              <a:t>Current $184</a:t>
            </a:r>
            <a:endParaRPr lang="en-US" sz="1300" dirty="0"/>
          </a:p>
        </p:txBody>
      </p:sp>
      <p:sp>
        <p:nvSpPr>
          <p:cNvPr id="26" name="Text 24"/>
          <p:cNvSpPr/>
          <p:nvPr/>
        </p:nvSpPr>
        <p:spPr>
          <a:xfrm>
            <a:off x="6019800" y="4959300"/>
            <a:ext cx="1473200" cy="25653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0B7A55"/>
                </a:solidFill>
                <a:latin typeface="IBM Plex Sans" pitchFamily="34" charset="0"/>
                <a:ea typeface="IBM Plex Sans" pitchFamily="34" charset="-122"/>
                <a:cs typeface="IBM Plex Sans" pitchFamily="34" charset="-120"/>
              </a:rPr>
              <a:t>Target $213</a:t>
            </a:r>
            <a:endParaRPr lang="en-US" sz="1300" dirty="0"/>
          </a:p>
        </p:txBody>
      </p:sp>
      <p:sp>
        <p:nvSpPr>
          <p:cNvPr id="27" name="Text 25"/>
          <p:cNvSpPr/>
          <p:nvPr/>
        </p:nvSpPr>
        <p:spPr>
          <a:xfrm>
            <a:off x="812800" y="6238280"/>
            <a:ext cx="109582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C8099"/>
                </a:solidFill>
                <a:latin typeface="IBM Plex Sans" pitchFamily="34" charset="0"/>
                <a:ea typeface="IBM Plex Sans" pitchFamily="34" charset="-122"/>
                <a:cs typeface="IBM Plex Sans" pitchFamily="34" charset="-120"/>
              </a:rPr>
              <a:t>Weighted target $213: NAV 40%, DCF 30%, Core FFO multiple 20%, AFFO multiple 10%. Source: author estimates; consensus per published analyst targets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A2BE0"/>
                </a:solidFill>
                <a:latin typeface="IBM Plex Sans" pitchFamily="34" charset="0"/>
                <a:ea typeface="IBM Plex Sans" pitchFamily="34" charset="-122"/>
                <a:cs typeface="IBM Plex Sans" pitchFamily="34" charset="-120"/>
              </a:rPr>
              <a:t>NET ASSET VALUE</a:t>
            </a:r>
            <a:endParaRPr lang="en-US" sz="1200" dirty="0"/>
          </a:p>
        </p:txBody>
      </p:sp>
      <p:sp>
        <p:nvSpPr>
          <p:cNvPr id="3" name="Text 1"/>
          <p:cNvSpPr/>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0E1033"/>
                </a:solidFill>
                <a:latin typeface="Rubik" pitchFamily="34" charset="0"/>
                <a:ea typeface="Rubik" pitchFamily="34" charset="-122"/>
                <a:cs typeface="Rubik" pitchFamily="34" charset="-120"/>
              </a:rPr>
              <a:t>Where the value comes from</a:t>
            </a:r>
            <a:endParaRPr lang="en-US" sz="3200" dirty="0"/>
          </a:p>
        </p:txBody>
      </p:sp>
      <p:sp>
        <p:nvSpPr>
          <p:cNvPr id="4" name="Text 2"/>
          <p:cNvSpPr/>
          <p:nvPr/>
        </p:nvSpPr>
        <p:spPr>
          <a:xfrm>
            <a:off x="812800" y="1676350"/>
            <a:ext cx="9287510"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5B5E7D"/>
                </a:solidFill>
                <a:latin typeface="IBM Plex Sans" pitchFamily="34" charset="0"/>
                <a:ea typeface="IBM Plex Sans" pitchFamily="34" charset="-122"/>
                <a:cs typeface="IBM Plex Sans" pitchFamily="34" charset="-120"/>
              </a:rPr>
              <a:t>DLR builds at an 11.5% yield on cost. A stabilised data center trades at roughly a 5.5% cap rate. That 600 basis point spread is what turns construction spending into net asset value.</a:t>
            </a:r>
            <a:endParaRPr lang="en-US" sz="15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12800" y="2235101"/>
          <a:ext cx="10566400" cy="3594199"/>
        </p:xfrm>
        <a:graphic>
          <a:graphicData uri="http://schemas.openxmlformats.org/drawingml/2006/table">
            <a:tbl>
              <a:tblPr/>
              <a:tblGrid>
                <a:gridCol w="5705856"/>
                <a:gridCol w="2430272"/>
                <a:gridCol w="2430272"/>
              </a:tblGrid>
              <a:tr h="399355">
                <a:tc>
                  <a:txBody>
                    <a:bodyPr/>
                    <a:lstStyle/>
                    <a:p>
                      <a:pPr indent="0" marL="0">
                        <a:lnSpc>
                          <a:spcPts val="2030"/>
                        </a:lnSpc>
                        <a:buNone/>
                      </a:pPr>
                      <a:r>
                        <a:rPr lang="en-US" sz="1450" b="1" dirty="0">
                          <a:solidFill>
                            <a:srgbClr val="0E1033"/>
                          </a:solidFill>
                          <a:latin typeface="IBM Plex Sans" pitchFamily="34" charset="0"/>
                          <a:ea typeface="IBM Plex Sans" pitchFamily="34" charset="-122"/>
                          <a:cs typeface="IBM Plex Sans" pitchFamily="34" charset="-120"/>
                        </a:rPr>
                        <a:t>Net asset value build</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solidFill>
                      <a:srgbClr val="F4F5F9"/>
                    </a:solidFill>
                  </a:tcPr>
                </a:tc>
                <a:tc>
                  <a:txBody>
                    <a:bodyPr/>
                    <a:lstStyle/>
                    <a:p>
                      <a:pPr algn="r" indent="0" marL="0">
                        <a:lnSpc>
                          <a:spcPts val="2030"/>
                        </a:lnSpc>
                        <a:buNone/>
                      </a:pPr>
                      <a:r>
                        <a:rPr lang="en-US" sz="1450" b="1" dirty="0">
                          <a:solidFill>
                            <a:srgbClr val="0E1033"/>
                          </a:solidFill>
                          <a:latin typeface="IBM Plex Sans" pitchFamily="34" charset="0"/>
                          <a:ea typeface="IBM Plex Sans" pitchFamily="34" charset="-122"/>
                          <a:cs typeface="IBM Plex Sans" pitchFamily="34" charset="-120"/>
                        </a:rPr>
                        <a:t>$mm</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solidFill>
                      <a:srgbClr val="F4F5F9"/>
                    </a:solidFill>
                  </a:tcPr>
                </a:tc>
                <a:tc>
                  <a:txBody>
                    <a:bodyPr/>
                    <a:lstStyle/>
                    <a:p>
                      <a:pPr algn="r" indent="0" marL="0">
                        <a:lnSpc>
                          <a:spcPts val="2030"/>
                        </a:lnSpc>
                        <a:buNone/>
                      </a:pPr>
                      <a:r>
                        <a:rPr lang="en-US" sz="1450" b="1" dirty="0">
                          <a:solidFill>
                            <a:srgbClr val="0E1033"/>
                          </a:solidFill>
                          <a:latin typeface="IBM Plex Sans" pitchFamily="34" charset="0"/>
                          <a:ea typeface="IBM Plex Sans" pitchFamily="34" charset="-122"/>
                          <a:cs typeface="IBM Plex Sans" pitchFamily="34" charset="-120"/>
                        </a:rPr>
                        <a:t>Per share</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solidFill>
                      <a:srgbClr val="F4F5F9"/>
                    </a:solidFill>
                  </a:tcPr>
                </a:tc>
              </a:tr>
              <a:tr h="399355">
                <a:tc>
                  <a:txBody>
                    <a:bodyPr/>
                    <a:lstStyle/>
                    <a:p>
                      <a:pPr indent="0" marL="0">
                        <a:lnSpc>
                          <a:spcPts val="2030"/>
                        </a:lnSpc>
                        <a:buNone/>
                      </a:pPr>
                      <a:r>
                        <a:rPr lang="en-US" sz="1450" dirty="0">
                          <a:solidFill>
                            <a:srgbClr val="0E1033"/>
                          </a:solidFill>
                          <a:latin typeface="IBM Plex Sans" pitchFamily="34" charset="0"/>
                          <a:ea typeface="IBM Plex Sans" pitchFamily="34" charset="-122"/>
                          <a:cs typeface="IBM Plex Sans" pitchFamily="34" charset="-120"/>
                        </a:rPr>
                        <a:t>Operating buildings: $4,282m cash NOI at a 5.5% cap rate</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tcPr>
                </a:tc>
                <a:tc>
                  <a:txBody>
                    <a:bodyPr/>
                    <a:lstStyle/>
                    <a:p>
                      <a:pPr algn="r" indent="0" marL="0">
                        <a:lnSpc>
                          <a:spcPts val="2030"/>
                        </a:lnSpc>
                        <a:buNone/>
                      </a:pPr>
                      <a:r>
                        <a:rPr lang="en-US" sz="1450" dirty="0">
                          <a:solidFill>
                            <a:srgbClr val="0E1033"/>
                          </a:solidFill>
                          <a:latin typeface="IBM Plex Sans" pitchFamily="34" charset="0"/>
                          <a:ea typeface="IBM Plex Sans" pitchFamily="34" charset="-122"/>
                          <a:cs typeface="IBM Plex Sans" pitchFamily="34" charset="-120"/>
                        </a:rPr>
                        <a:t>77,861</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tcPr>
                </a:tc>
                <a:tc>
                  <a:txBody>
                    <a:bodyPr/>
                    <a:lstStyle/>
                    <a:p>
                      <a:pPr algn="r" indent="0" marL="0">
                        <a:lnSpc>
                          <a:spcPts val="2030"/>
                        </a:lnSpc>
                        <a:buNone/>
                      </a:pPr>
                      <a:r>
                        <a:rPr lang="en-US" sz="1450" dirty="0">
                          <a:solidFill>
                            <a:srgbClr val="0E1033"/>
                          </a:solidFill>
                          <a:latin typeface="IBM Plex Sans" pitchFamily="34" charset="0"/>
                          <a:ea typeface="IBM Plex Sans" pitchFamily="34" charset="-122"/>
                          <a:cs typeface="IBM Plex Sans" pitchFamily="34" charset="-120"/>
                        </a:rPr>
                        <a:t>206.71</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tcPr>
                </a:tc>
              </a:tr>
              <a:tr h="399355">
                <a:tc>
                  <a:txBody>
                    <a:bodyPr/>
                    <a:lstStyle/>
                    <a:p>
                      <a:pPr indent="0" marL="0">
                        <a:lnSpc>
                          <a:spcPts val="2030"/>
                        </a:lnSpc>
                        <a:buNone/>
                      </a:pPr>
                      <a:r>
                        <a:rPr lang="en-US" sz="1450" dirty="0">
                          <a:solidFill>
                            <a:srgbClr val="0E1033"/>
                          </a:solidFill>
                          <a:latin typeface="IBM Plex Sans" pitchFamily="34" charset="0"/>
                          <a:ea typeface="IBM Plex Sans" pitchFamily="34" charset="-122"/>
                          <a:cs typeface="IBM Plex Sans" pitchFamily="34" charset="-120"/>
                        </a:rPr>
                        <a:t>Value created on the 1,402 MW under construction, over full cost</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tcPr>
                </a:tc>
                <a:tc>
                  <a:txBody>
                    <a:bodyPr/>
                    <a:lstStyle/>
                    <a:p>
                      <a:pPr algn="r" indent="0" marL="0">
                        <a:lnSpc>
                          <a:spcPts val="2030"/>
                        </a:lnSpc>
                        <a:buNone/>
                      </a:pPr>
                      <a:r>
                        <a:rPr lang="en-US" sz="1450" dirty="0">
                          <a:solidFill>
                            <a:srgbClr val="0E1033"/>
                          </a:solidFill>
                          <a:latin typeface="IBM Plex Sans" pitchFamily="34" charset="0"/>
                          <a:ea typeface="IBM Plex Sans" pitchFamily="34" charset="-122"/>
                          <a:cs typeface="IBM Plex Sans" pitchFamily="34" charset="-120"/>
                        </a:rPr>
                        <a:t>11,971</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tcPr>
                </a:tc>
                <a:tc>
                  <a:txBody>
                    <a:bodyPr/>
                    <a:lstStyle/>
                    <a:p>
                      <a:pPr algn="r" indent="0" marL="0">
                        <a:lnSpc>
                          <a:spcPts val="2030"/>
                        </a:lnSpc>
                        <a:buNone/>
                      </a:pPr>
                      <a:r>
                        <a:rPr lang="en-US" sz="1450" dirty="0">
                          <a:solidFill>
                            <a:srgbClr val="0E1033"/>
                          </a:solidFill>
                          <a:latin typeface="IBM Plex Sans" pitchFamily="34" charset="0"/>
                          <a:ea typeface="IBM Plex Sans" pitchFamily="34" charset="-122"/>
                          <a:cs typeface="IBM Plex Sans" pitchFamily="34" charset="-120"/>
                        </a:rPr>
                        <a:t>31.78</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tcPr>
                </a:tc>
              </a:tr>
              <a:tr h="399355">
                <a:tc>
                  <a:txBody>
                    <a:bodyPr/>
                    <a:lstStyle/>
                    <a:p>
                      <a:pPr indent="0" marL="0">
                        <a:lnSpc>
                          <a:spcPts val="2030"/>
                        </a:lnSpc>
                        <a:buNone/>
                      </a:pPr>
                      <a:r>
                        <a:rPr lang="en-US" sz="1450" dirty="0">
                          <a:solidFill>
                            <a:srgbClr val="0E1033"/>
                          </a:solidFill>
                          <a:latin typeface="IBM Plex Sans" pitchFamily="34" charset="0"/>
                          <a:ea typeface="IBM Plex Sans" pitchFamily="34" charset="-122"/>
                          <a:cs typeface="IBM Plex Sans" pitchFamily="34" charset="-120"/>
                        </a:rPr>
                        <a:t>Land and power bank, 7,110 MW at $500k per MW</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tcPr>
                </a:tc>
                <a:tc>
                  <a:txBody>
                    <a:bodyPr/>
                    <a:lstStyle/>
                    <a:p>
                      <a:pPr algn="r" indent="0" marL="0">
                        <a:lnSpc>
                          <a:spcPts val="2030"/>
                        </a:lnSpc>
                        <a:buNone/>
                      </a:pPr>
                      <a:r>
                        <a:rPr lang="en-US" sz="1450" dirty="0">
                          <a:solidFill>
                            <a:srgbClr val="0E1033"/>
                          </a:solidFill>
                          <a:latin typeface="IBM Plex Sans" pitchFamily="34" charset="0"/>
                          <a:ea typeface="IBM Plex Sans" pitchFamily="34" charset="-122"/>
                          <a:cs typeface="IBM Plex Sans" pitchFamily="34" charset="-120"/>
                        </a:rPr>
                        <a:t>3,555</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tcPr>
                </a:tc>
                <a:tc>
                  <a:txBody>
                    <a:bodyPr/>
                    <a:lstStyle/>
                    <a:p>
                      <a:pPr algn="r" indent="0" marL="0">
                        <a:lnSpc>
                          <a:spcPts val="2030"/>
                        </a:lnSpc>
                        <a:buNone/>
                      </a:pPr>
                      <a:r>
                        <a:rPr lang="en-US" sz="1450" dirty="0">
                          <a:solidFill>
                            <a:srgbClr val="0E1033"/>
                          </a:solidFill>
                          <a:latin typeface="IBM Plex Sans" pitchFamily="34" charset="0"/>
                          <a:ea typeface="IBM Plex Sans" pitchFamily="34" charset="-122"/>
                          <a:cs typeface="IBM Plex Sans" pitchFamily="34" charset="-120"/>
                        </a:rPr>
                        <a:t>9.44</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tcPr>
                </a:tc>
              </a:tr>
              <a:tr h="399355">
                <a:tc>
                  <a:txBody>
                    <a:bodyPr/>
                    <a:lstStyle/>
                    <a:p>
                      <a:pPr indent="0" marL="0">
                        <a:lnSpc>
                          <a:spcPts val="2030"/>
                        </a:lnSpc>
                        <a:buNone/>
                      </a:pPr>
                      <a:r>
                        <a:rPr lang="en-US" sz="1450" dirty="0">
                          <a:solidFill>
                            <a:srgbClr val="0E1033"/>
                          </a:solidFill>
                          <a:latin typeface="IBM Plex Sans" pitchFamily="34" charset="0"/>
                          <a:ea typeface="IBM Plex Sans" pitchFamily="34" charset="-122"/>
                          <a:cs typeface="IBM Plex Sans" pitchFamily="34" charset="-120"/>
                        </a:rPr>
                        <a:t>Private capital platform: $190m of fees at 15x</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tcPr>
                </a:tc>
                <a:tc>
                  <a:txBody>
                    <a:bodyPr/>
                    <a:lstStyle/>
                    <a:p>
                      <a:pPr algn="r" indent="0" marL="0">
                        <a:lnSpc>
                          <a:spcPts val="2030"/>
                        </a:lnSpc>
                        <a:buNone/>
                      </a:pPr>
                      <a:r>
                        <a:rPr lang="en-US" sz="1450" dirty="0">
                          <a:solidFill>
                            <a:srgbClr val="0E1033"/>
                          </a:solidFill>
                          <a:latin typeface="IBM Plex Sans" pitchFamily="34" charset="0"/>
                          <a:ea typeface="IBM Plex Sans" pitchFamily="34" charset="-122"/>
                          <a:cs typeface="IBM Plex Sans" pitchFamily="34" charset="-120"/>
                        </a:rPr>
                        <a:t>2,853</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tcPr>
                </a:tc>
                <a:tc>
                  <a:txBody>
                    <a:bodyPr/>
                    <a:lstStyle/>
                    <a:p>
                      <a:pPr algn="r" indent="0" marL="0">
                        <a:lnSpc>
                          <a:spcPts val="2030"/>
                        </a:lnSpc>
                        <a:buNone/>
                      </a:pPr>
                      <a:r>
                        <a:rPr lang="en-US" sz="1450" dirty="0">
                          <a:solidFill>
                            <a:srgbClr val="0E1033"/>
                          </a:solidFill>
                          <a:latin typeface="IBM Plex Sans" pitchFamily="34" charset="0"/>
                          <a:ea typeface="IBM Plex Sans" pitchFamily="34" charset="-122"/>
                          <a:cs typeface="IBM Plex Sans" pitchFamily="34" charset="-120"/>
                        </a:rPr>
                        <a:t>7.57</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tcPr>
                </a:tc>
              </a:tr>
              <a:tr h="399355">
                <a:tc>
                  <a:txBody>
                    <a:bodyPr/>
                    <a:lstStyle/>
                    <a:p>
                      <a:pPr indent="0" marL="0">
                        <a:lnSpc>
                          <a:spcPts val="2030"/>
                        </a:lnSpc>
                        <a:buNone/>
                      </a:pPr>
                      <a:r>
                        <a:rPr lang="en-US" sz="1450" dirty="0">
                          <a:solidFill>
                            <a:srgbClr val="0E1033"/>
                          </a:solidFill>
                          <a:latin typeface="IBM Plex Sans" pitchFamily="34" charset="0"/>
                          <a:ea typeface="IBM Plex Sans" pitchFamily="34" charset="-122"/>
                          <a:cs typeface="IBM Plex Sans" pitchFamily="34" charset="-120"/>
                        </a:rPr>
                        <a:t>Cash, receivables, land and construction at book cost</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tcPr>
                </a:tc>
                <a:tc>
                  <a:txBody>
                    <a:bodyPr/>
                    <a:lstStyle/>
                    <a:p>
                      <a:pPr algn="r" indent="0" marL="0">
                        <a:lnSpc>
                          <a:spcPts val="2030"/>
                        </a:lnSpc>
                        <a:buNone/>
                      </a:pPr>
                      <a:r>
                        <a:rPr lang="en-US" sz="1450" dirty="0">
                          <a:solidFill>
                            <a:srgbClr val="0E1033"/>
                          </a:solidFill>
                          <a:latin typeface="IBM Plex Sans" pitchFamily="34" charset="0"/>
                          <a:ea typeface="IBM Plex Sans" pitchFamily="34" charset="-122"/>
                          <a:cs typeface="IBM Plex Sans" pitchFamily="34" charset="-120"/>
                        </a:rPr>
                        <a:t>12,532</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tcPr>
                </a:tc>
                <a:tc>
                  <a:txBody>
                    <a:bodyPr/>
                    <a:lstStyle/>
                    <a:p>
                      <a:pPr algn="r" indent="0" marL="0">
                        <a:lnSpc>
                          <a:spcPts val="2030"/>
                        </a:lnSpc>
                        <a:buNone/>
                      </a:pPr>
                      <a:r>
                        <a:rPr lang="en-US" sz="1450" dirty="0">
                          <a:solidFill>
                            <a:srgbClr val="0E1033"/>
                          </a:solidFill>
                          <a:latin typeface="IBM Plex Sans" pitchFamily="34" charset="0"/>
                          <a:ea typeface="IBM Plex Sans" pitchFamily="34" charset="-122"/>
                          <a:cs typeface="IBM Plex Sans" pitchFamily="34" charset="-120"/>
                        </a:rPr>
                        <a:t>33.27</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tcPr>
                </a:tc>
              </a:tr>
              <a:tr h="399355">
                <a:tc>
                  <a:txBody>
                    <a:bodyPr/>
                    <a:lstStyle/>
                    <a:p>
                      <a:pPr indent="0" marL="0">
                        <a:lnSpc>
                          <a:spcPts val="2030"/>
                        </a:lnSpc>
                        <a:buNone/>
                      </a:pPr>
                      <a:r>
                        <a:rPr lang="en-US" sz="1450" dirty="0">
                          <a:solidFill>
                            <a:srgbClr val="0E1033"/>
                          </a:solidFill>
                          <a:latin typeface="IBM Plex Sans" pitchFamily="34" charset="0"/>
                          <a:ea typeface="IBM Plex Sans" pitchFamily="34" charset="-122"/>
                          <a:cs typeface="IBM Plex Sans" pitchFamily="34" charset="-120"/>
                        </a:rPr>
                        <a:t>Gross asset value</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solidFill>
                      <a:srgbClr val="F4F5F9"/>
                    </a:solidFill>
                  </a:tcPr>
                </a:tc>
                <a:tc>
                  <a:txBody>
                    <a:bodyPr/>
                    <a:lstStyle/>
                    <a:p>
                      <a:pPr algn="r" indent="0" marL="0">
                        <a:lnSpc>
                          <a:spcPts val="2030"/>
                        </a:lnSpc>
                        <a:buNone/>
                      </a:pPr>
                      <a:r>
                        <a:rPr lang="en-US" sz="1450" dirty="0">
                          <a:solidFill>
                            <a:srgbClr val="0E1033"/>
                          </a:solidFill>
                          <a:latin typeface="IBM Plex Sans" pitchFamily="34" charset="0"/>
                          <a:ea typeface="IBM Plex Sans" pitchFamily="34" charset="-122"/>
                          <a:cs typeface="IBM Plex Sans" pitchFamily="34" charset="-120"/>
                        </a:rPr>
                        <a:t>108,772</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solidFill>
                      <a:srgbClr val="F4F5F9"/>
                    </a:solidFill>
                  </a:tcPr>
                </a:tc>
                <a:tc>
                  <a:txBody>
                    <a:bodyPr/>
                    <a:lstStyle/>
                    <a:p>
                      <a:pPr algn="r" indent="0" marL="0">
                        <a:lnSpc>
                          <a:spcPts val="2030"/>
                        </a:lnSpc>
                        <a:buNone/>
                      </a:pPr>
                      <a:r>
                        <a:rPr lang="en-US" sz="1450" dirty="0">
                          <a:solidFill>
                            <a:srgbClr val="0E1033"/>
                          </a:solidFill>
                          <a:latin typeface="IBM Plex Sans" pitchFamily="34" charset="0"/>
                          <a:ea typeface="IBM Plex Sans" pitchFamily="34" charset="-122"/>
                          <a:cs typeface="IBM Plex Sans" pitchFamily="34" charset="-120"/>
                        </a:rPr>
                        <a:t>288.77</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solidFill>
                      <a:srgbClr val="F4F5F9"/>
                    </a:solidFill>
                  </a:tcPr>
                </a:tc>
              </a:tr>
              <a:tr h="399355">
                <a:tc>
                  <a:txBody>
                    <a:bodyPr/>
                    <a:lstStyle/>
                    <a:p>
                      <a:pPr indent="0" marL="0">
                        <a:lnSpc>
                          <a:spcPts val="2030"/>
                        </a:lnSpc>
                        <a:buNone/>
                      </a:pPr>
                      <a:r>
                        <a:rPr lang="en-US" sz="1450" dirty="0">
                          <a:solidFill>
                            <a:srgbClr val="0E1033"/>
                          </a:solidFill>
                          <a:latin typeface="IBM Plex Sans" pitchFamily="34" charset="0"/>
                          <a:ea typeface="IBM Plex Sans" pitchFamily="34" charset="-122"/>
                          <a:cs typeface="IBM Plex Sans" pitchFamily="34" charset="-120"/>
                        </a:rPr>
                        <a:t>Less: debt, preferred and other liabilities</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tcPr>
                </a:tc>
                <a:tc>
                  <a:txBody>
                    <a:bodyPr/>
                    <a:lstStyle/>
                    <a:p>
                      <a:pPr algn="r" indent="0" marL="0">
                        <a:lnSpc>
                          <a:spcPts val="2030"/>
                        </a:lnSpc>
                        <a:buNone/>
                      </a:pPr>
                      <a:r>
                        <a:rPr lang="en-US" sz="1450" dirty="0">
                          <a:solidFill>
                            <a:srgbClr val="0E1033"/>
                          </a:solidFill>
                          <a:latin typeface="IBM Plex Sans" pitchFamily="34" charset="0"/>
                          <a:ea typeface="IBM Plex Sans" pitchFamily="34" charset="-122"/>
                          <a:cs typeface="IBM Plex Sans" pitchFamily="34" charset="-120"/>
                        </a:rPr>
                        <a:t>(26,771)</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tcPr>
                </a:tc>
                <a:tc>
                  <a:txBody>
                    <a:bodyPr/>
                    <a:lstStyle/>
                    <a:p>
                      <a:pPr algn="r" indent="0" marL="0">
                        <a:lnSpc>
                          <a:spcPts val="2030"/>
                        </a:lnSpc>
                        <a:buNone/>
                      </a:pPr>
                      <a:r>
                        <a:rPr lang="en-US" sz="1450" dirty="0">
                          <a:solidFill>
                            <a:srgbClr val="0E1033"/>
                          </a:solidFill>
                          <a:latin typeface="IBM Plex Sans" pitchFamily="34" charset="0"/>
                          <a:ea typeface="IBM Plex Sans" pitchFamily="34" charset="-122"/>
                          <a:cs typeface="IBM Plex Sans" pitchFamily="34" charset="-120"/>
                        </a:rPr>
                        <a:t>(71.07)</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tcPr>
                </a:tc>
              </a:tr>
              <a:tr h="399355">
                <a:tc>
                  <a:txBody>
                    <a:bodyPr/>
                    <a:lstStyle/>
                    <a:p>
                      <a:pPr indent="0" marL="0">
                        <a:lnSpc>
                          <a:spcPts val="2030"/>
                        </a:lnSpc>
                        <a:buNone/>
                      </a:pPr>
                      <a:r>
                        <a:rPr lang="en-US" sz="1450" dirty="0">
                          <a:solidFill>
                            <a:srgbClr val="0E1033"/>
                          </a:solidFill>
                          <a:latin typeface="IBM Plex Sans" pitchFamily="34" charset="0"/>
                          <a:ea typeface="IBM Plex Sans" pitchFamily="34" charset="-122"/>
                          <a:cs typeface="IBM Plex Sans" pitchFamily="34" charset="-120"/>
                        </a:rPr>
                        <a:t>Net asset value</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solidFill>
                      <a:srgbClr val="F4F5F9"/>
                    </a:solidFill>
                  </a:tcPr>
                </a:tc>
                <a:tc>
                  <a:txBody>
                    <a:bodyPr/>
                    <a:lstStyle/>
                    <a:p>
                      <a:pPr algn="r" indent="0" marL="0">
                        <a:lnSpc>
                          <a:spcPts val="2030"/>
                        </a:lnSpc>
                        <a:buNone/>
                      </a:pPr>
                      <a:r>
                        <a:rPr lang="en-US" sz="1450" dirty="0">
                          <a:solidFill>
                            <a:srgbClr val="0E1033"/>
                          </a:solidFill>
                          <a:latin typeface="IBM Plex Sans" pitchFamily="34" charset="0"/>
                          <a:ea typeface="IBM Plex Sans" pitchFamily="34" charset="-122"/>
                          <a:cs typeface="IBM Plex Sans" pitchFamily="34" charset="-120"/>
                        </a:rPr>
                        <a:t>82,001</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solidFill>
                      <a:srgbClr val="F4F5F9"/>
                    </a:solidFill>
                  </a:tcPr>
                </a:tc>
                <a:tc>
                  <a:txBody>
                    <a:bodyPr/>
                    <a:lstStyle/>
                    <a:p>
                      <a:pPr algn="r" indent="0" marL="0">
                        <a:lnSpc>
                          <a:spcPts val="2030"/>
                        </a:lnSpc>
                        <a:buNone/>
                      </a:pPr>
                      <a:r>
                        <a:rPr lang="en-US" sz="1450" dirty="0">
                          <a:solidFill>
                            <a:srgbClr val="0E1033"/>
                          </a:solidFill>
                          <a:latin typeface="IBM Plex Sans" pitchFamily="34" charset="0"/>
                          <a:ea typeface="IBM Plex Sans" pitchFamily="34" charset="-122"/>
                          <a:cs typeface="IBM Plex Sans" pitchFamily="34" charset="-120"/>
                        </a:rPr>
                        <a:t>217.70</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solidFill>
                      <a:srgbClr val="F4F5F9"/>
                    </a:solidFill>
                  </a:tcPr>
                </a:tc>
              </a:tr>
            </a:tbl>
          </a:graphicData>
        </a:graphic>
      </p:graphicFrame>
      <p:sp>
        <p:nvSpPr>
          <p:cNvPr id="6" name="Text 3"/>
          <p:cNvSpPr/>
          <p:nvPr/>
        </p:nvSpPr>
        <p:spPr>
          <a:xfrm>
            <a:off x="812800" y="6238280"/>
            <a:ext cx="914346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C8099"/>
                </a:solidFill>
                <a:latin typeface="IBM Plex Sans" pitchFamily="34" charset="0"/>
                <a:ea typeface="IBM Plex Sans" pitchFamily="34" charset="-122"/>
                <a:cs typeface="IBM Plex Sans" pitchFamily="34" charset="-120"/>
              </a:rPr>
              <a:t>376.7m shares and units. Cap rate sensitivity: $195 at 6.0%, $244 at 5.0%. Source: DLR 2Q26 supplement p.44; author estimates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187226"/>
          </a:xfrm>
          <a:prstGeom prst="rect">
            <a:avLst/>
          </a:prstGeom>
          <a:noFill/>
          <a:ln/>
        </p:spPr>
        <p:txBody>
          <a:bodyPr wrap="square" lIns="0" tIns="0" rIns="0" bIns="0" rtlCol="0" anchor="t">
            <a:normAutofit/>
          </a:bodyPr>
          <a:lstStyle/>
          <a:p>
            <a:pPr algn="l" indent="0" marL="0">
              <a:lnSpc>
                <a:spcPts val="1270"/>
              </a:lnSpc>
              <a:buNone/>
            </a:pPr>
            <a:r>
              <a:rPr lang="en-US" sz="907" b="1" spc="150" kern="0" dirty="0">
                <a:solidFill>
                  <a:srgbClr val="3A2BE0"/>
                </a:solidFill>
                <a:latin typeface="IBM Plex Sans" pitchFamily="34" charset="0"/>
                <a:ea typeface="IBM Plex Sans" pitchFamily="34" charset="-122"/>
                <a:cs typeface="IBM Plex Sans" pitchFamily="34" charset="-120"/>
              </a:rPr>
              <a:t>RISKS</a:t>
            </a:r>
            <a:endParaRPr lang="en-US" sz="907" dirty="0"/>
          </a:p>
        </p:txBody>
      </p:sp>
      <p:sp>
        <p:nvSpPr>
          <p:cNvPr id="3" name="Text 1"/>
          <p:cNvSpPr/>
          <p:nvPr/>
        </p:nvSpPr>
        <p:spPr>
          <a:xfrm>
            <a:off x="812800" y="1076226"/>
            <a:ext cx="10883392" cy="364530"/>
          </a:xfrm>
          <a:prstGeom prst="rect">
            <a:avLst/>
          </a:prstGeom>
          <a:noFill/>
          <a:ln/>
        </p:spPr>
        <p:txBody>
          <a:bodyPr wrap="square" lIns="0" tIns="0" rIns="0" bIns="0" rtlCol="0" anchor="t">
            <a:normAutofit/>
          </a:bodyPr>
          <a:lstStyle/>
          <a:p>
            <a:pPr algn="l" indent="0" marL="0">
              <a:lnSpc>
                <a:spcPts val="2673"/>
              </a:lnSpc>
              <a:buNone/>
            </a:pPr>
            <a:r>
              <a:rPr lang="en-US" sz="2430" b="1" dirty="0">
                <a:solidFill>
                  <a:srgbClr val="0E1033"/>
                </a:solidFill>
                <a:latin typeface="Rubik" pitchFamily="34" charset="0"/>
                <a:ea typeface="Rubik" pitchFamily="34" charset="-122"/>
                <a:cs typeface="Rubik" pitchFamily="34" charset="-120"/>
              </a:rPr>
              <a:t>What could go wrong</a:t>
            </a:r>
            <a:endParaRPr lang="en-US" sz="243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12800" y="1415355"/>
          <a:ext cx="10566400" cy="3406477"/>
        </p:xfrm>
        <a:graphic>
          <a:graphicData uri="http://schemas.openxmlformats.org/drawingml/2006/table">
            <a:tbl>
              <a:tblPr/>
              <a:tblGrid>
                <a:gridCol w="3381248"/>
                <a:gridCol w="7185152"/>
              </a:tblGrid>
              <a:tr h="346075">
                <a:tc>
                  <a:txBody>
                    <a:bodyPr/>
                    <a:lstStyle/>
                    <a:p>
                      <a:pPr indent="0" marL="0">
                        <a:lnSpc>
                          <a:spcPts val="1746"/>
                        </a:lnSpc>
                        <a:buNone/>
                      </a:pPr>
                      <a:r>
                        <a:rPr lang="en-US" sz="1247" b="1" dirty="0">
                          <a:solidFill>
                            <a:srgbClr val="0E1033"/>
                          </a:solidFill>
                          <a:latin typeface="IBM Plex Sans" pitchFamily="34" charset="0"/>
                          <a:ea typeface="IBM Plex Sans" pitchFamily="34" charset="-122"/>
                          <a:cs typeface="IBM Plex Sans" pitchFamily="34" charset="-120"/>
                        </a:rPr>
                        <a:t>Risk</a:t>
                      </a:r>
                      <a:endParaRPr lang="en-US" sz="1247" dirty="0">
                        <a:latin typeface="IBM Plex Sans" charset="0"/>
                        <a:ea typeface="IBM Plex Sans" charset="0"/>
                        <a:cs typeface="IBM Plex Sans" charset="0"/>
                      </a:endParaRPr>
                    </a:p>
                  </a:txBody>
                  <a:tcPr marL="55424" marR="55424" marT="55424" marB="55424"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solidFill>
                      <a:srgbClr val="F4F5F9"/>
                    </a:solidFill>
                  </a:tcPr>
                </a:tc>
                <a:tc>
                  <a:txBody>
                    <a:bodyPr/>
                    <a:lstStyle/>
                    <a:p>
                      <a:pPr indent="0" marL="0">
                        <a:lnSpc>
                          <a:spcPts val="1746"/>
                        </a:lnSpc>
                        <a:buNone/>
                      </a:pPr>
                      <a:r>
                        <a:rPr lang="en-US" sz="1247" b="1" dirty="0">
                          <a:solidFill>
                            <a:srgbClr val="0E1033"/>
                          </a:solidFill>
                          <a:latin typeface="IBM Plex Sans" pitchFamily="34" charset="0"/>
                          <a:ea typeface="IBM Plex Sans" pitchFamily="34" charset="-122"/>
                          <a:cs typeface="IBM Plex Sans" pitchFamily="34" charset="-120"/>
                        </a:rPr>
                        <a:t>Assessment</a:t>
                      </a:r>
                      <a:endParaRPr lang="en-US" sz="1247" dirty="0">
                        <a:latin typeface="IBM Plex Sans" charset="0"/>
                        <a:ea typeface="IBM Plex Sans" charset="0"/>
                        <a:cs typeface="IBM Plex Sans" charset="0"/>
                      </a:endParaRPr>
                    </a:p>
                  </a:txBody>
                  <a:tcPr marL="55424" marR="55424" marT="55424" marB="55424"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solidFill>
                      <a:srgbClr val="F4F5F9"/>
                    </a:solidFill>
                  </a:tcPr>
                </a:tc>
              </a:tr>
              <a:tr h="567730">
                <a:tc>
                  <a:txBody>
                    <a:bodyPr/>
                    <a:lstStyle/>
                    <a:p>
                      <a:pPr indent="0" marL="0">
                        <a:lnSpc>
                          <a:spcPts val="1746"/>
                        </a:lnSpc>
                        <a:buNone/>
                      </a:pPr>
                      <a:r>
                        <a:rPr lang="en-US" sz="1247" dirty="0">
                          <a:solidFill>
                            <a:srgbClr val="0E1033"/>
                          </a:solidFill>
                          <a:latin typeface="IBM Plex Sans" pitchFamily="34" charset="0"/>
                          <a:ea typeface="IBM Plex Sans" pitchFamily="34" charset="-122"/>
                          <a:cs typeface="IBM Plex Sans" pitchFamily="34" charset="-120"/>
                        </a:rPr>
                        <a:t>Equity issuance</a:t>
                      </a:r>
                      <a:endParaRPr lang="en-US" sz="1247" dirty="0">
                        <a:latin typeface="IBM Plex Sans" charset="0"/>
                        <a:ea typeface="IBM Plex Sans" charset="0"/>
                        <a:cs typeface="IBM Plex Sans" charset="0"/>
                      </a:endParaRPr>
                    </a:p>
                  </a:txBody>
                  <a:tcPr marL="55424" marR="55424" marT="55424" marB="55424"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tcPr>
                </a:tc>
                <a:tc>
                  <a:txBody>
                    <a:bodyPr/>
                    <a:lstStyle/>
                    <a:p>
                      <a:pPr indent="0" marL="0">
                        <a:lnSpc>
                          <a:spcPts val="1746"/>
                        </a:lnSpc>
                        <a:buNone/>
                      </a:pPr>
                      <a:r>
                        <a:rPr lang="en-US" sz="1247" dirty="0">
                          <a:solidFill>
                            <a:srgbClr val="0E1033"/>
                          </a:solidFill>
                          <a:latin typeface="IBM Plex Sans" pitchFamily="34" charset="0"/>
                          <a:ea typeface="IBM Plex Sans" pitchFamily="34" charset="-122"/>
                          <a:cs typeface="IBM Plex Sans" pitchFamily="34" charset="-120"/>
                        </a:rPr>
                        <a:t>Share count grows 8.5% by 2030. Core FFO per share still compounds from $8.20 to $11.85, and leverage peaks at 5.0x before falling to 4.0x.</a:t>
                      </a:r>
                      <a:endParaRPr lang="en-US" sz="1247" dirty="0">
                        <a:latin typeface="IBM Plex Sans" charset="0"/>
                        <a:ea typeface="IBM Plex Sans" charset="0"/>
                        <a:cs typeface="IBM Plex Sans" charset="0"/>
                      </a:endParaRPr>
                    </a:p>
                  </a:txBody>
                  <a:tcPr marL="55424" marR="55424" marT="55424" marB="55424"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tcPr>
                </a:tc>
              </a:tr>
              <a:tr h="789384">
                <a:tc>
                  <a:txBody>
                    <a:bodyPr/>
                    <a:lstStyle/>
                    <a:p>
                      <a:pPr indent="0" marL="0">
                        <a:lnSpc>
                          <a:spcPts val="1746"/>
                        </a:lnSpc>
                        <a:buNone/>
                      </a:pPr>
                      <a:r>
                        <a:rPr lang="en-US" sz="1247" dirty="0">
                          <a:solidFill>
                            <a:srgbClr val="0E1033"/>
                          </a:solidFill>
                          <a:latin typeface="IBM Plex Sans" pitchFamily="34" charset="0"/>
                          <a:ea typeface="IBM Plex Sans" pitchFamily="34" charset="-122"/>
                          <a:cs typeface="IBM Plex Sans" pitchFamily="34" charset="-120"/>
                        </a:rPr>
                        <a:t>Valuation versus Equinix</a:t>
                      </a:r>
                      <a:endParaRPr lang="en-US" sz="1247" dirty="0">
                        <a:latin typeface="IBM Plex Sans" charset="0"/>
                        <a:ea typeface="IBM Plex Sans" charset="0"/>
                        <a:cs typeface="IBM Plex Sans" charset="0"/>
                      </a:endParaRPr>
                    </a:p>
                  </a:txBody>
                  <a:tcPr marL="55424" marR="55424" marT="55424" marB="55424"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tcPr>
                </a:tc>
                <a:tc>
                  <a:txBody>
                    <a:bodyPr/>
                    <a:lstStyle/>
                    <a:p>
                      <a:pPr indent="0" marL="0">
                        <a:lnSpc>
                          <a:spcPts val="1746"/>
                        </a:lnSpc>
                        <a:buNone/>
                      </a:pPr>
                      <a:r>
                        <a:rPr lang="en-US" sz="1247" dirty="0">
                          <a:solidFill>
                            <a:srgbClr val="0E1033"/>
                          </a:solidFill>
                          <a:latin typeface="IBM Plex Sans" pitchFamily="34" charset="0"/>
                          <a:ea typeface="IBM Plex Sans" pitchFamily="34" charset="-122"/>
                          <a:cs typeface="IBM Plex Sans" pitchFamily="34" charset="-120"/>
                        </a:rPr>
                        <a:t>DLR trades at 24.1x 2027 AFFO against Equinix at 21.4x, a 13% premium, with 4.8x leverage against 3.5x. Faster revenue growth and a higher margin offset it, but this is the weakest point in the case.</a:t>
                      </a:r>
                      <a:endParaRPr lang="en-US" sz="1247" dirty="0">
                        <a:latin typeface="IBM Plex Sans" charset="0"/>
                        <a:ea typeface="IBM Plex Sans" charset="0"/>
                        <a:cs typeface="IBM Plex Sans" charset="0"/>
                      </a:endParaRPr>
                    </a:p>
                  </a:txBody>
                  <a:tcPr marL="55424" marR="55424" marT="55424" marB="55424"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tcPr>
                </a:tc>
              </a:tr>
              <a:tr h="567730">
                <a:tc>
                  <a:txBody>
                    <a:bodyPr/>
                    <a:lstStyle/>
                    <a:p>
                      <a:pPr indent="0" marL="0">
                        <a:lnSpc>
                          <a:spcPts val="1746"/>
                        </a:lnSpc>
                        <a:buNone/>
                      </a:pPr>
                      <a:r>
                        <a:rPr lang="en-US" sz="1247" dirty="0">
                          <a:solidFill>
                            <a:srgbClr val="0E1033"/>
                          </a:solidFill>
                          <a:latin typeface="IBM Plex Sans" pitchFamily="34" charset="0"/>
                          <a:ea typeface="IBM Plex Sans" pitchFamily="34" charset="-122"/>
                          <a:cs typeface="IBM Plex Sans" pitchFamily="34" charset="-120"/>
                        </a:rPr>
                        <a:t>Speculative development</a:t>
                      </a:r>
                      <a:endParaRPr lang="en-US" sz="1247" dirty="0">
                        <a:latin typeface="IBM Plex Sans" charset="0"/>
                        <a:ea typeface="IBM Plex Sans" charset="0"/>
                        <a:cs typeface="IBM Plex Sans" charset="0"/>
                      </a:endParaRPr>
                    </a:p>
                  </a:txBody>
                  <a:tcPr marL="55424" marR="55424" marT="55424" marB="55424"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tcPr>
                </a:tc>
                <a:tc>
                  <a:txBody>
                    <a:bodyPr/>
                    <a:lstStyle/>
                    <a:p>
                      <a:pPr indent="0" marL="0">
                        <a:lnSpc>
                          <a:spcPts val="1746"/>
                        </a:lnSpc>
                        <a:buNone/>
                      </a:pPr>
                      <a:r>
                        <a:rPr lang="en-US" sz="1247" dirty="0">
                          <a:solidFill>
                            <a:srgbClr val="0E1033"/>
                          </a:solidFill>
                          <a:latin typeface="IBM Plex Sans" pitchFamily="34" charset="0"/>
                          <a:ea typeface="IBM Plex Sans" pitchFamily="34" charset="-122"/>
                          <a:cs typeface="IBM Plex Sans" pitchFamily="34" charset="-120"/>
                        </a:rPr>
                        <a:t>Pipeline is 54% pre-leased. Over half the unleased capacity is Atlanta, 192 MW delivering 2029, and EMEA, 183 MW at 12% leased. The Americas excluding Atlanta are 75% pre-leased.</a:t>
                      </a:r>
                      <a:endParaRPr lang="en-US" sz="1247" dirty="0">
                        <a:latin typeface="IBM Plex Sans" charset="0"/>
                        <a:ea typeface="IBM Plex Sans" charset="0"/>
                        <a:cs typeface="IBM Plex Sans" charset="0"/>
                      </a:endParaRPr>
                    </a:p>
                  </a:txBody>
                  <a:tcPr marL="55424" marR="55424" marT="55424" marB="55424"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tcPr>
                </a:tc>
              </a:tr>
              <a:tr h="567779">
                <a:tc>
                  <a:txBody>
                    <a:bodyPr/>
                    <a:lstStyle/>
                    <a:p>
                      <a:pPr indent="0" marL="0">
                        <a:lnSpc>
                          <a:spcPts val="1746"/>
                        </a:lnSpc>
                        <a:buNone/>
                      </a:pPr>
                      <a:r>
                        <a:rPr lang="en-US" sz="1247" dirty="0">
                          <a:solidFill>
                            <a:srgbClr val="0E1033"/>
                          </a:solidFill>
                          <a:latin typeface="IBM Plex Sans" pitchFamily="34" charset="0"/>
                          <a:ea typeface="IBM Plex Sans" pitchFamily="34" charset="-122"/>
                          <a:cs typeface="IBM Plex Sans" pitchFamily="34" charset="-120"/>
                        </a:rPr>
                        <a:t>Customer concentration</a:t>
                      </a:r>
                      <a:endParaRPr lang="en-US" sz="1247" dirty="0">
                        <a:latin typeface="IBM Plex Sans" charset="0"/>
                        <a:ea typeface="IBM Plex Sans" charset="0"/>
                        <a:cs typeface="IBM Plex Sans" charset="0"/>
                      </a:endParaRPr>
                    </a:p>
                  </a:txBody>
                  <a:tcPr marL="55424" marR="55424" marT="55424" marB="55424"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tcPr>
                </a:tc>
                <a:tc>
                  <a:txBody>
                    <a:bodyPr/>
                    <a:lstStyle/>
                    <a:p>
                      <a:pPr indent="0" marL="0">
                        <a:lnSpc>
                          <a:spcPts val="1746"/>
                        </a:lnSpc>
                        <a:buNone/>
                      </a:pPr>
                      <a:r>
                        <a:rPr lang="en-US" sz="1247" dirty="0">
                          <a:solidFill>
                            <a:srgbClr val="0E1033"/>
                          </a:solidFill>
                          <a:latin typeface="IBM Plex Sans" pitchFamily="34" charset="0"/>
                          <a:ea typeface="IBM Plex Sans" pitchFamily="34" charset="-122"/>
                          <a:cs typeface="IBM Plex Sans" pitchFamily="34" charset="-120"/>
                        </a:rPr>
                        <a:t>Top three customers are 26% of recurring revenue, up from 23% a year earlier. Offsetting this, those leases run 9 to 10 years and churn above 1 MW is 0.4% a quarter.</a:t>
                      </a:r>
                      <a:endParaRPr lang="en-US" sz="1247" dirty="0">
                        <a:latin typeface="IBM Plex Sans" charset="0"/>
                        <a:ea typeface="IBM Plex Sans" charset="0"/>
                        <a:cs typeface="IBM Plex Sans" charset="0"/>
                      </a:endParaRPr>
                    </a:p>
                  </a:txBody>
                  <a:tcPr marL="55424" marR="55424" marT="55424" marB="55424"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tcPr>
                </a:tc>
              </a:tr>
              <a:tr h="567779">
                <a:tc>
                  <a:txBody>
                    <a:bodyPr/>
                    <a:lstStyle/>
                    <a:p>
                      <a:pPr indent="0" marL="0">
                        <a:lnSpc>
                          <a:spcPts val="1746"/>
                        </a:lnSpc>
                        <a:buNone/>
                      </a:pPr>
                      <a:r>
                        <a:rPr lang="en-US" sz="1247" dirty="0">
                          <a:solidFill>
                            <a:srgbClr val="0E1033"/>
                          </a:solidFill>
                          <a:latin typeface="IBM Plex Sans" pitchFamily="34" charset="0"/>
                          <a:ea typeface="IBM Plex Sans" pitchFamily="34" charset="-122"/>
                          <a:cs typeface="IBM Plex Sans" pitchFamily="34" charset="-120"/>
                        </a:rPr>
                        <a:t>Community and regulatory</a:t>
                      </a:r>
                      <a:endParaRPr lang="en-US" sz="1247" dirty="0">
                        <a:latin typeface="IBM Plex Sans" charset="0"/>
                        <a:ea typeface="IBM Plex Sans" charset="0"/>
                        <a:cs typeface="IBM Plex Sans" charset="0"/>
                      </a:endParaRPr>
                    </a:p>
                  </a:txBody>
                  <a:tcPr marL="55424" marR="55424" marT="55424" marB="55424"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tcPr>
                </a:tc>
                <a:tc>
                  <a:txBody>
                    <a:bodyPr/>
                    <a:lstStyle/>
                    <a:p>
                      <a:pPr indent="0" marL="0">
                        <a:lnSpc>
                          <a:spcPts val="1746"/>
                        </a:lnSpc>
                        <a:buNone/>
                      </a:pPr>
                      <a:r>
                        <a:rPr lang="en-US" sz="1247" dirty="0">
                          <a:solidFill>
                            <a:srgbClr val="0E1033"/>
                          </a:solidFill>
                          <a:latin typeface="IBM Plex Sans" pitchFamily="34" charset="0"/>
                          <a:ea typeface="IBM Plex Sans" pitchFamily="34" charset="-122"/>
                          <a:cs typeface="IBM Plex Sans" pitchFamily="34" charset="-120"/>
                        </a:rPr>
                        <a:t>Local opposition and state level scrutiny of data center power use and tax incentives are rising. Diversification across 55 metros is partial insulation. The risk most likely to be underpriced.</a:t>
                      </a:r>
                      <a:endParaRPr lang="en-US" sz="1247" dirty="0">
                        <a:latin typeface="IBM Plex Sans" charset="0"/>
                        <a:ea typeface="IBM Plex Sans" charset="0"/>
                        <a:cs typeface="IBM Plex Sans" charset="0"/>
                      </a:endParaRPr>
                    </a:p>
                  </a:txBody>
                  <a:tcPr marL="55424" marR="55424" marT="55424" marB="55424"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tcPr>
                </a:tc>
              </a:tr>
            </a:tbl>
          </a:graphicData>
        </a:graphic>
      </p:graphicFrame>
      <p:sp>
        <p:nvSpPr>
          <p:cNvPr id="5" name="Shape 2"/>
          <p:cNvSpPr/>
          <p:nvPr/>
        </p:nvSpPr>
        <p:spPr>
          <a:xfrm>
            <a:off x="812800" y="4834533"/>
            <a:ext cx="10566400" cy="1007467"/>
          </a:xfrm>
          <a:prstGeom prst="rect">
            <a:avLst/>
          </a:prstGeom>
          <a:solidFill>
            <a:srgbClr val="F4F5F9"/>
          </a:solidFill>
          <a:ln/>
        </p:spPr>
      </p:sp>
      <p:sp>
        <p:nvSpPr>
          <p:cNvPr id="6" name="Shape 3"/>
          <p:cNvSpPr/>
          <p:nvPr/>
        </p:nvSpPr>
        <p:spPr>
          <a:xfrm>
            <a:off x="825500" y="4834533"/>
            <a:ext cx="0" cy="1007467"/>
          </a:xfrm>
          <a:prstGeom prst="line">
            <a:avLst/>
          </a:prstGeom>
          <a:noFill/>
          <a:ln w="25400">
            <a:solidFill>
              <a:srgbClr val="3A2BE0"/>
            </a:solidFill>
            <a:prstDash val="solid"/>
          </a:ln>
        </p:spPr>
      </p:sp>
      <p:sp>
        <p:nvSpPr>
          <p:cNvPr id="7" name="Text 4"/>
          <p:cNvSpPr/>
          <p:nvPr/>
        </p:nvSpPr>
        <p:spPr>
          <a:xfrm>
            <a:off x="1066800" y="5012333"/>
            <a:ext cx="10386314" cy="211931"/>
          </a:xfrm>
          <a:prstGeom prst="rect">
            <a:avLst/>
          </a:prstGeom>
          <a:noFill/>
          <a:ln/>
        </p:spPr>
        <p:txBody>
          <a:bodyPr wrap="square" lIns="0" tIns="0" rIns="0" bIns="0" rtlCol="0" anchor="t">
            <a:normAutofit/>
          </a:bodyPr>
          <a:lstStyle/>
          <a:p>
            <a:pPr algn="l" indent="0" marL="0">
              <a:lnSpc>
                <a:spcPts val="1471"/>
              </a:lnSpc>
              <a:buNone/>
            </a:pPr>
            <a:r>
              <a:rPr lang="en-US" sz="1050" b="1" spc="100" kern="0" dirty="0">
                <a:solidFill>
                  <a:srgbClr val="5B5E7D"/>
                </a:solidFill>
                <a:latin typeface="IBM Plex Sans" pitchFamily="34" charset="0"/>
                <a:ea typeface="IBM Plex Sans" pitchFamily="34" charset="-122"/>
                <a:cs typeface="IBM Plex Sans" pitchFamily="34" charset="-120"/>
              </a:rPr>
              <a:t>CONDITIONS THAT WOULD CHANGE THE VIEW</a:t>
            </a:r>
            <a:endParaRPr lang="en-US" sz="1050" dirty="0"/>
          </a:p>
        </p:txBody>
      </p:sp>
      <p:sp>
        <p:nvSpPr>
          <p:cNvPr id="8" name="Text 5"/>
          <p:cNvSpPr/>
          <p:nvPr/>
        </p:nvSpPr>
        <p:spPr>
          <a:xfrm>
            <a:off x="1066800" y="5249664"/>
            <a:ext cx="10386314" cy="439936"/>
          </a:xfrm>
          <a:prstGeom prst="rect">
            <a:avLst/>
          </a:prstGeom>
          <a:noFill/>
          <a:ln/>
        </p:spPr>
        <p:txBody>
          <a:bodyPr wrap="square" lIns="0" tIns="0" rIns="0" bIns="0" rtlCol="0" anchor="t">
            <a:normAutofit/>
          </a:bodyPr>
          <a:lstStyle/>
          <a:p>
            <a:pPr algn="l" indent="0" marL="0">
              <a:lnSpc>
                <a:spcPts val="2067"/>
              </a:lnSpc>
              <a:buNone/>
            </a:pPr>
            <a:r>
              <a:rPr lang="en-US" sz="1477" dirty="0">
                <a:solidFill>
                  <a:srgbClr val="0E1033"/>
                </a:solidFill>
                <a:latin typeface="IBM Plex Sans" pitchFamily="34" charset="0"/>
                <a:ea typeface="IBM Plex Sans" pitchFamily="34" charset="-122"/>
                <a:cs typeface="IBM Plex Sans" pitchFamily="34" charset="-120"/>
              </a:rPr>
              <a:t>Development yields falling below 9%, pre-leasing on new starts below 40%, or credit deterioration at a top three tenant.</a:t>
            </a:r>
            <a:endParaRPr lang="en-US" sz="1477" dirty="0"/>
          </a:p>
        </p:txBody>
      </p:sp>
      <p:sp>
        <p:nvSpPr>
          <p:cNvPr id="9" name="Text 6"/>
          <p:cNvSpPr/>
          <p:nvPr/>
        </p:nvSpPr>
        <p:spPr>
          <a:xfrm>
            <a:off x="812800" y="6238280"/>
            <a:ext cx="445459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C8099"/>
                </a:solidFill>
                <a:latin typeface="IBM Plex Sans" pitchFamily="34" charset="0"/>
                <a:ea typeface="IBM Plex Sans" pitchFamily="34" charset="-122"/>
                <a:cs typeface="IBM Plex Sans" pitchFamily="34" charset="-120"/>
              </a:rPr>
              <a:t>Source: DLR filings; company data for Equinix; author estimates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A2BE0"/>
                </a:solidFill>
                <a:latin typeface="IBM Plex Sans" pitchFamily="34" charset="0"/>
                <a:ea typeface="IBM Plex Sans" pitchFamily="34" charset="-122"/>
                <a:cs typeface="IBM Plex Sans" pitchFamily="34" charset="-120"/>
              </a:rPr>
              <a:t>CATALYSTS</a:t>
            </a:r>
            <a:endParaRPr lang="en-US" sz="1200" dirty="0"/>
          </a:p>
        </p:txBody>
      </p:sp>
      <p:sp>
        <p:nvSpPr>
          <p:cNvPr id="3" name="Text 1"/>
          <p:cNvSpPr/>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0E1033"/>
                </a:solidFill>
                <a:latin typeface="Rubik" pitchFamily="34" charset="0"/>
                <a:ea typeface="Rubik" pitchFamily="34" charset="-122"/>
                <a:cs typeface="Rubik" pitchFamily="34" charset="-120"/>
              </a:rPr>
              <a:t>What to watch</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12800" y="1761480"/>
          <a:ext cx="10566400" cy="2330450"/>
        </p:xfrm>
        <a:graphic>
          <a:graphicData uri="http://schemas.openxmlformats.org/drawingml/2006/table">
            <a:tbl>
              <a:tblPr/>
              <a:tblGrid>
                <a:gridCol w="2535936"/>
                <a:gridCol w="8030464"/>
              </a:tblGrid>
              <a:tr h="412750">
                <a:tc>
                  <a:txBody>
                    <a:bodyPr/>
                    <a:lstStyle/>
                    <a:p>
                      <a:pPr indent="0" marL="0">
                        <a:lnSpc>
                          <a:spcPts val="2100"/>
                        </a:lnSpc>
                        <a:buNone/>
                      </a:pPr>
                      <a:r>
                        <a:rPr lang="en-US" sz="1500" b="1" dirty="0">
                          <a:solidFill>
                            <a:srgbClr val="0E1033"/>
                          </a:solidFill>
                          <a:latin typeface="IBM Plex Sans" pitchFamily="34" charset="0"/>
                          <a:ea typeface="IBM Plex Sans" pitchFamily="34" charset="-122"/>
                          <a:cs typeface="IBM Plex Sans" pitchFamily="34" charset="-120"/>
                        </a:rPr>
                        <a:t>Timing</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solidFill>
                      <a:srgbClr val="F4F5F9"/>
                    </a:solidFill>
                  </a:tcPr>
                </a:tc>
                <a:tc>
                  <a:txBody>
                    <a:bodyPr/>
                    <a:lstStyle/>
                    <a:p>
                      <a:pPr indent="0" marL="0">
                        <a:lnSpc>
                          <a:spcPts val="2100"/>
                        </a:lnSpc>
                        <a:buNone/>
                      </a:pPr>
                      <a:r>
                        <a:rPr lang="en-US" sz="1500" b="1" dirty="0">
                          <a:solidFill>
                            <a:srgbClr val="0E1033"/>
                          </a:solidFill>
                          <a:latin typeface="IBM Plex Sans" pitchFamily="34" charset="0"/>
                          <a:ea typeface="IBM Plex Sans" pitchFamily="34" charset="-122"/>
                          <a:cs typeface="IBM Plex Sans" pitchFamily="34" charset="-120"/>
                        </a:rPr>
                        <a:t>Event and why it matters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solidFill>
                      <a:srgbClr val="F4F5F9"/>
                    </a:solidFill>
                  </a:tcPr>
                </a:tc>
              </a:tr>
              <a:tr h="679450">
                <a:tc>
                  <a:txBody>
                    <a:bodyPr/>
                    <a:lstStyle/>
                    <a:p>
                      <a:pPr indent="0" marL="0">
                        <a:lnSpc>
                          <a:spcPts val="2100"/>
                        </a:lnSpc>
                        <a:buNone/>
                      </a:pPr>
                      <a:r>
                        <a:rPr lang="en-US" sz="1500" dirty="0">
                          <a:solidFill>
                            <a:srgbClr val="0E1033"/>
                          </a:solidFill>
                          <a:latin typeface="IBM Plex Sans" pitchFamily="34" charset="0"/>
                          <a:ea typeface="IBM Plex Sans" pitchFamily="34" charset="-122"/>
                          <a:cs typeface="IBM Plex Sans" pitchFamily="34" charset="-120"/>
                        </a:rPr>
                        <a:t>Late October 2026</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tcPr>
                </a:tc>
                <a:tc>
                  <a:txBody>
                    <a:bodyPr/>
                    <a:lstStyle/>
                    <a:p>
                      <a:pPr indent="0" marL="0">
                        <a:lnSpc>
                          <a:spcPts val="2100"/>
                        </a:lnSpc>
                        <a:buNone/>
                      </a:pPr>
                      <a:r>
                        <a:rPr lang="en-US" sz="1500" dirty="0">
                          <a:solidFill>
                            <a:srgbClr val="0E1033"/>
                          </a:solidFill>
                          <a:latin typeface="IBM Plex Sans" pitchFamily="34" charset="0"/>
                          <a:ea typeface="IBM Plex Sans" pitchFamily="34" charset="-122"/>
                          <a:cs typeface="IBM Plex Sans" pitchFamily="34" charset="-120"/>
                        </a:rPr>
                        <a:t>Third quarter results. A further guidance raise would extend a pattern the market has not paid for.</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tcPr>
                </a:tc>
              </a:tr>
              <a:tr h="412750">
                <a:tc>
                  <a:txBody>
                    <a:bodyPr/>
                    <a:lstStyle/>
                    <a:p>
                      <a:pPr indent="0" marL="0">
                        <a:lnSpc>
                          <a:spcPts val="2100"/>
                        </a:lnSpc>
                        <a:buNone/>
                      </a:pPr>
                      <a:r>
                        <a:rPr lang="en-US" sz="1500" dirty="0">
                          <a:solidFill>
                            <a:srgbClr val="0E1033"/>
                          </a:solidFill>
                          <a:latin typeface="IBM Plex Sans" pitchFamily="34" charset="0"/>
                          <a:ea typeface="IBM Plex Sans" pitchFamily="34" charset="-122"/>
                          <a:cs typeface="IBM Plex Sans" pitchFamily="34" charset="-120"/>
                        </a:rPr>
                        <a:t>Each quarter</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tcPr>
                </a:tc>
                <a:tc>
                  <a:txBody>
                    <a:bodyPr/>
                    <a:lstStyle/>
                    <a:p>
                      <a:pPr indent="0" marL="0">
                        <a:lnSpc>
                          <a:spcPts val="2100"/>
                        </a:lnSpc>
                        <a:buNone/>
                      </a:pPr>
                      <a:r>
                        <a:rPr lang="en-US" sz="1500" dirty="0">
                          <a:solidFill>
                            <a:srgbClr val="0E1033"/>
                          </a:solidFill>
                          <a:latin typeface="IBM Plex Sans" pitchFamily="34" charset="0"/>
                          <a:ea typeface="IBM Plex Sans" pitchFamily="34" charset="-122"/>
                          <a:cs typeface="IBM Plex Sans" pitchFamily="34" charset="-120"/>
                        </a:rPr>
                        <a:t>Renewal spreads holding above 20% keeps the pricing power argument intact.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tcPr>
                </a:tc>
              </a:tr>
              <a:tr h="412750">
                <a:tc>
                  <a:txBody>
                    <a:bodyPr/>
                    <a:lstStyle/>
                    <a:p>
                      <a:pPr indent="0" marL="0">
                        <a:lnSpc>
                          <a:spcPts val="2100"/>
                        </a:lnSpc>
                        <a:buNone/>
                      </a:pPr>
                      <a:r>
                        <a:rPr lang="en-US" sz="1500" dirty="0">
                          <a:solidFill>
                            <a:srgbClr val="0E1033"/>
                          </a:solidFill>
                          <a:latin typeface="IBM Plex Sans" pitchFamily="34" charset="0"/>
                          <a:ea typeface="IBM Plex Sans" pitchFamily="34" charset="-122"/>
                          <a:cs typeface="IBM Plex Sans" pitchFamily="34" charset="-120"/>
                        </a:rPr>
                        <a:t>Any time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tcPr>
                </a:tc>
                <a:tc>
                  <a:txBody>
                    <a:bodyPr/>
                    <a:lstStyle/>
                    <a:p>
                      <a:pPr indent="0" marL="0">
                        <a:lnSpc>
                          <a:spcPts val="2100"/>
                        </a:lnSpc>
                        <a:buNone/>
                      </a:pPr>
                      <a:r>
                        <a:rPr lang="en-US" sz="1500" dirty="0">
                          <a:solidFill>
                            <a:srgbClr val="0E1033"/>
                          </a:solidFill>
                          <a:latin typeface="IBM Plex Sans" pitchFamily="34" charset="0"/>
                          <a:ea typeface="IBM Plex Sans" pitchFamily="34" charset="-122"/>
                          <a:cs typeface="IBM Plex Sans" pitchFamily="34" charset="-120"/>
                        </a:rPr>
                        <a:t>First leases signed at Kansas City or Atlanta convert land into contracted rent.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tcPr>
                </a:tc>
              </a:tr>
              <a:tr h="412750">
                <a:tc>
                  <a:txBody>
                    <a:bodyPr/>
                    <a:lstStyle/>
                    <a:p>
                      <a:pPr indent="0" marL="0">
                        <a:lnSpc>
                          <a:spcPts val="2100"/>
                        </a:lnSpc>
                        <a:buNone/>
                      </a:pPr>
                      <a:r>
                        <a:rPr lang="en-US" sz="1500" dirty="0">
                          <a:solidFill>
                            <a:srgbClr val="0E1033"/>
                          </a:solidFill>
                          <a:latin typeface="IBM Plex Sans" pitchFamily="34" charset="0"/>
                          <a:ea typeface="IBM Plex Sans" pitchFamily="34" charset="-122"/>
                          <a:cs typeface="IBM Plex Sans" pitchFamily="34" charset="-120"/>
                        </a:rPr>
                        <a:t>February 2027</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tcPr>
                </a:tc>
                <a:tc>
                  <a:txBody>
                    <a:bodyPr/>
                    <a:lstStyle/>
                    <a:p>
                      <a:pPr indent="0" marL="0">
                        <a:lnSpc>
                          <a:spcPts val="2100"/>
                        </a:lnSpc>
                        <a:buNone/>
                      </a:pPr>
                      <a:r>
                        <a:rPr lang="en-US" sz="1500" dirty="0">
                          <a:solidFill>
                            <a:srgbClr val="0E1033"/>
                          </a:solidFill>
                          <a:latin typeface="IBM Plex Sans" pitchFamily="34" charset="0"/>
                          <a:ea typeface="IBM Plex Sans" pitchFamily="34" charset="-122"/>
                          <a:cs typeface="IBM Plex Sans" pitchFamily="34" charset="-120"/>
                        </a:rPr>
                        <a:t>2027 guidance. A third consecutive double digit year should support the multiple.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ACAD2"/>
                      </a:solidFill>
                      <a:prstDash val="solid"/>
                      <a:round/>
                      <a:headEnd type="none" w="med" len="med"/>
                      <a:tailEnd type="none" w="med" len="med"/>
                    </a:lnL>
                    <a:lnR w="12700" cap="flat" cmpd="sng" algn="ctr">
                      <a:solidFill>
                        <a:srgbClr val="CACAD2"/>
                      </a:solidFill>
                      <a:prstDash val="solid"/>
                      <a:round/>
                      <a:headEnd type="none" w="med" len="med"/>
                      <a:tailEnd type="none" w="med" len="med"/>
                    </a:lnR>
                    <a:lnT w="12700" cap="flat" cmpd="sng" algn="ctr">
                      <a:solidFill>
                        <a:srgbClr val="CACAD2"/>
                      </a:solidFill>
                      <a:prstDash val="solid"/>
                      <a:round/>
                      <a:headEnd type="none" w="med" len="med"/>
                      <a:tailEnd type="none" w="med" len="med"/>
                    </a:lnT>
                    <a:lnB w="12700" cap="flat" cmpd="sng" algn="ctr">
                      <a:solidFill>
                        <a:srgbClr val="CACAD2"/>
                      </a:solidFill>
                      <a:prstDash val="solid"/>
                      <a:round/>
                      <a:headEnd type="none" w="med" len="med"/>
                      <a:tailEnd type="none" w="med" len="med"/>
                    </a:lnB>
                  </a:tcPr>
                </a:tc>
              </a:tr>
            </a:tbl>
          </a:graphicData>
        </a:graphic>
      </p:graphicFrame>
      <p:sp>
        <p:nvSpPr>
          <p:cNvPr id="5" name="Shape 2"/>
          <p:cNvSpPr/>
          <p:nvPr/>
        </p:nvSpPr>
        <p:spPr>
          <a:xfrm>
            <a:off x="812800" y="4291360"/>
            <a:ext cx="10566400" cy="1550640"/>
          </a:xfrm>
          <a:prstGeom prst="rect">
            <a:avLst/>
          </a:prstGeom>
          <a:solidFill>
            <a:srgbClr val="0E1033"/>
          </a:solidFill>
          <a:ln/>
        </p:spPr>
      </p:sp>
      <p:sp>
        <p:nvSpPr>
          <p:cNvPr id="6" name="Text 3"/>
          <p:cNvSpPr/>
          <p:nvPr/>
        </p:nvSpPr>
        <p:spPr>
          <a:xfrm>
            <a:off x="1143000" y="4570760"/>
            <a:ext cx="10203180" cy="375890"/>
          </a:xfrm>
          <a:prstGeom prst="rect">
            <a:avLst/>
          </a:prstGeom>
          <a:noFill/>
          <a:ln/>
        </p:spPr>
        <p:txBody>
          <a:bodyPr wrap="square" lIns="0" tIns="0" rIns="0" bIns="0" rtlCol="0" anchor="t">
            <a:normAutofit/>
          </a:bodyPr>
          <a:lstStyle/>
          <a:p>
            <a:pPr algn="l" indent="0" marL="0">
              <a:lnSpc>
                <a:spcPts val="2760"/>
              </a:lnSpc>
              <a:buNone/>
            </a:pPr>
            <a:r>
              <a:rPr lang="en-US" sz="2300" b="1" dirty="0">
                <a:solidFill>
                  <a:srgbClr val="FFFFFF"/>
                </a:solidFill>
                <a:latin typeface="Rubik" pitchFamily="34" charset="0"/>
                <a:ea typeface="Rubik" pitchFamily="34" charset="-122"/>
                <a:cs typeface="Rubik" pitchFamily="34" charset="-120"/>
              </a:rPr>
              <a:t>Buy DLR at $184.26. Target $213.</a:t>
            </a:r>
            <a:endParaRPr lang="en-US" sz="2300" dirty="0"/>
          </a:p>
        </p:txBody>
      </p:sp>
      <p:sp>
        <p:nvSpPr>
          <p:cNvPr id="7" name="Text 4"/>
          <p:cNvSpPr/>
          <p:nvPr/>
        </p:nvSpPr>
        <p:spPr>
          <a:xfrm>
            <a:off x="1143000" y="5010150"/>
            <a:ext cx="9418320"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A5A2E6"/>
                </a:solidFill>
                <a:latin typeface="IBM Plex Sans" pitchFamily="34" charset="0"/>
                <a:ea typeface="IBM Plex Sans" pitchFamily="34" charset="-122"/>
                <a:cs typeface="IBM Plex Sans" pitchFamily="34" charset="-120"/>
              </a:rPr>
              <a:t>The twelve month case is an 18% total return. The stronger case is duration: holding to 2029 earns roughly 13% a year on earnings growth and dividends alone, with no change in the multiple.</a:t>
            </a:r>
            <a:endParaRPr lang="en-US" sz="1500" dirty="0"/>
          </a:p>
        </p:txBody>
      </p:sp>
      <p:sp>
        <p:nvSpPr>
          <p:cNvPr id="8" name="Text 5"/>
          <p:cNvSpPr/>
          <p:nvPr/>
        </p:nvSpPr>
        <p:spPr>
          <a:xfrm>
            <a:off x="812800" y="6238280"/>
            <a:ext cx="316866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C8099"/>
                </a:solidFill>
                <a:latin typeface="IBM Plex Sans" pitchFamily="34" charset="0"/>
                <a:ea typeface="IBM Plex Sans" pitchFamily="34" charset="-122"/>
                <a:cs typeface="IBM Plex Sans" pitchFamily="34" charset="-120"/>
              </a:rPr>
              <a:t>Source: company guidance; author estimates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DLR Equity Pitch</dc:title>
  <dc:subject>PptxGenJS Presentation</dc:subject>
  <dc:creator>PptxGenJS</dc:creator>
  <cp:lastModifiedBy>PptxGenJS</cp:lastModifiedBy>
  <cp:revision>1</cp:revision>
  <dcterms:created xsi:type="dcterms:W3CDTF">2026-09-18T20:20:58Z</dcterms:created>
  <dcterms:modified xsi:type="dcterms:W3CDTF">2026-09-18T20:20:58Z</dcterms:modified>
</cp:coreProperties>
</file>